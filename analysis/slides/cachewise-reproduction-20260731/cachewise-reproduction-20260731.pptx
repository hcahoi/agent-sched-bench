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Noto Sans CJK SC"/>
              </a:defRPr>
            </a:pPr>
            <a:r>
              <a:t>CACHEWISE × AGENT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498079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100" b="1">
                <a:solidFill>
                  <a:srgbClr val="F4F7FB"/>
                </a:solidFill>
                <a:latin typeface="Noto Sans CJK SC"/>
              </a:defRPr>
            </a:pPr>
            <a:r>
              <a:t>CacheWise 的核心 predictor</a:t>
            </a:r>
            <a:br/>
            <a:r>
              <a:t>没有稳定迁移到我们的 agent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450592"/>
            <a:ext cx="6675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0">
                <a:solidFill>
                  <a:srgbClr val="9FB0C6"/>
                </a:solidFill>
                <a:latin typeface="Noto Sans CJK SC"/>
              </a:defRPr>
            </a:pPr>
            <a:r>
              <a:t>论文复现 · causal progress · synthetic concurrency · task stability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658368"/>
            <a:ext cx="3090672" cy="240487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896112"/>
            <a:ext cx="2468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Noto Sans CJK SC"/>
              </a:defRPr>
            </a:pPr>
            <a:r>
              <a:t>一句话结论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5088" y="1325880"/>
            <a:ext cx="251460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metadata 有信号，</a:t>
            </a:r>
            <a:br/>
            <a:r>
              <a:t>但收益被少数极端任务支配；</a:t>
            </a:r>
            <a:br/>
            <a:r>
              <a:t>离可部署 policy 还差 task robustness 与真实 KV pressure。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3886200"/>
            <a:ext cx="342900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995928"/>
            <a:ext cx="31363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87171"/>
                </a:solidFill>
                <a:latin typeface="Noto Sans CJK SC"/>
              </a:defRPr>
            </a:pPr>
            <a:r>
              <a:t>+0.587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361688"/>
            <a:ext cx="31363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SWE · C100 更差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599432"/>
            <a:ext cx="313639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9FB0C6"/>
                </a:solidFill>
                <a:latin typeface="Noto Sans CJK SC"/>
              </a:defRPr>
            </a:pPr>
            <a:r>
              <a:t>95% CI [+0.120, +1.188]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3886200"/>
            <a:ext cx="342900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3995928"/>
            <a:ext cx="31363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34D399"/>
                </a:solidFill>
                <a:latin typeface="Noto Sans CJK SC"/>
              </a:defRPr>
            </a:pPr>
            <a:r>
              <a:t>−72.299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361688"/>
            <a:ext cx="31363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TB · aggregate 更好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4599432"/>
            <a:ext cx="313639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9FB0C6"/>
                </a:solidFill>
                <a:latin typeface="Noto Sans CJK SC"/>
              </a:defRPr>
            </a:pPr>
            <a:r>
              <a:t>但 single-task fragile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3886200"/>
            <a:ext cx="342900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3995928"/>
            <a:ext cx="31363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87171"/>
                </a:solidFill>
                <a:latin typeface="Noto Sans CJK SC"/>
              </a:defRPr>
            </a:pPr>
            <a:r>
              <a:t>+4.012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4361688"/>
            <a:ext cx="31363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Timeout · delete-one 翻转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599432"/>
            <a:ext cx="313639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9FB0C6"/>
                </a:solidFill>
                <a:latin typeface="Noto Sans CJK SC"/>
              </a:defRPr>
            </a:pPr>
            <a:r>
              <a:t>mixed-integer-programming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89320"/>
            <a:ext cx="4754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CJK SC"/>
              </a:defRPr>
            </a:pPr>
            <a:r>
              <a:t>16 slides · 15–20 min · development-only evidence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Paper: CacheWise, arXiv:2606.16824v1 · Local evidence: analysis/results/cachewise-*20260731/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PAPER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Coding agent 把一次用户任务变成“LLM ↔ tool”的长闭环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234440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1143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  <a:latin typeface="Noto Sans CJK SC"/>
              </a:defRPr>
            </a:pPr>
            <a:r>
              <a:t>用户任务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1" y="1719072"/>
            <a:ext cx="411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600200"/>
            <a:ext cx="1234440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755648"/>
            <a:ext cx="1143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Noto Sans CJK SC"/>
              </a:defRPr>
            </a:pPr>
            <a: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1719072"/>
            <a:ext cx="411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00200"/>
            <a:ext cx="1234440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755648"/>
            <a:ext cx="1143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Noto Sans CJK SC"/>
              </a:defRPr>
            </a:pPr>
            <a:r>
              <a:t>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1719072"/>
            <a:ext cx="411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600200"/>
            <a:ext cx="1234440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755648"/>
            <a:ext cx="1143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Noto Sans CJK SC"/>
              </a:defRPr>
            </a:pPr>
            <a: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1719072"/>
            <a:ext cx="411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600200"/>
            <a:ext cx="1234440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755648"/>
            <a:ext cx="1143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Noto Sans CJK SC"/>
              </a:defRPr>
            </a:pPr>
            <a:r>
              <a:t>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542032"/>
            <a:ext cx="786384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F4F7FB"/>
                </a:solidFill>
                <a:latin typeface="Noto Sans CJK SC"/>
              </a:defRPr>
            </a:pPr>
            <a:r>
              <a:t>tool 运行时，LLM 不占算力；但会话 KV prefix 仍驻留 GPU，等待下一轮复用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325880"/>
            <a:ext cx="205740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536192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B7185"/>
                </a:solidFill>
                <a:latin typeface="Noto Sans CJK SC"/>
              </a:defRPr>
            </a:pPr>
            <a:r>
              <a:t>GPU HBM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10928" y="1993392"/>
            <a:ext cx="1353312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10928" y="2249424"/>
            <a:ext cx="1353312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10928" y="2505456"/>
            <a:ext cx="1353312" cy="1828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0928" y="2761488"/>
            <a:ext cx="1353312" cy="182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8048" y="2907792"/>
            <a:ext cx="1737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0">
                <a:solidFill>
                  <a:srgbClr val="9FB0C6"/>
                </a:solidFill>
                <a:latin typeface="Noto Sans CJK SC"/>
              </a:defRPr>
            </a:pPr>
            <a:r>
              <a:t>多个长 session</a:t>
            </a:r>
            <a:br/>
            <a:r>
              <a:t>竞争有限 KVCache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160520"/>
            <a:ext cx="329184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4270248"/>
            <a:ext cx="299923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2DD4BF"/>
                </a:solidFill>
                <a:latin typeface="Noto Sans CJK SC"/>
              </a:defRPr>
            </a:pPr>
            <a:r>
              <a:t>36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4636008"/>
            <a:ext cx="299923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CATraces median 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" y="4873752"/>
            <a:ext cx="299923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9FB0C6"/>
                </a:solidFill>
                <a:latin typeface="Noto Sans CJK SC"/>
              </a:defRPr>
            </a:pPr>
            <a:r>
              <a:t>tail &gt; 2.6 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3984" y="4160520"/>
            <a:ext cx="329184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4270248"/>
            <a:ext cx="299923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BBF24"/>
                </a:solidFill>
                <a:latin typeface="Noto Sans CJK SC"/>
              </a:defRPr>
            </a:pPr>
            <a:r>
              <a:t>20×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4636008"/>
            <a:ext cx="299923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tool-triggered turns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873752"/>
            <a:ext cx="299923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9FB0C6"/>
                </a:solidFill>
                <a:latin typeface="Noto Sans CJK SC"/>
              </a:defRPr>
            </a:pPr>
            <a:r>
              <a:t>median vs user-triggered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02168" y="4160520"/>
            <a:ext cx="329184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2" y="4270248"/>
            <a:ext cx="299923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A78BFA"/>
                </a:solidFill>
                <a:latin typeface="Noto Sans CJK SC"/>
              </a:defRPr>
            </a:pPr>
            <a:r>
              <a:t>21×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2" y="4636008"/>
            <a:ext cx="299923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prefill / decode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2" y="4873752"/>
            <a:ext cx="299923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9FB0C6"/>
                </a:solidFill>
                <a:latin typeface="Noto Sans CJK SC"/>
              </a:defRPr>
            </a:pPr>
            <a:r>
              <a:t>vs chatbot workloads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CacheWise paper §3, Figures 2–8. Paper statistics are CATraces claims, not measurements from our traces.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CORE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真正的 eviction 问题不是“多久”，而是“谁最晚回来”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651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B7185"/>
                </a:solidFill>
                <a:latin typeface="Noto Sans CJK SC"/>
              </a:defRPr>
            </a:pPr>
            <a:r>
              <a:t>memory pressure at time 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1828800"/>
            <a:ext cx="973836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48840" y="1554480"/>
            <a:ext cx="0" cy="3200400"/>
          </a:xfrm>
          <a:prstGeom prst="line">
            <a:avLst/>
          </a:prstGeom>
          <a:ln w="20320">
            <a:solidFill>
              <a:srgbClr val="F4F7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01952" y="1280160"/>
            <a:ext cx="548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F7FB"/>
                </a:solidFill>
                <a:latin typeface="Noto Sans CJK SC"/>
              </a:defRPr>
            </a:pPr>
            <a: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67128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Noto Sans CJK SC"/>
              </a:defRPr>
            </a:pPr>
            <a:r>
              <a:t>S₁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2240280"/>
            <a:ext cx="731520" cy="164592"/>
          </a:xfrm>
          <a:prstGeom prst="rect">
            <a:avLst/>
          </a:prstGeom>
          <a:solidFill>
            <a:srgbClr val="19243A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2240280"/>
            <a:ext cx="62179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1" y="2148840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Noto Sans CJK SC"/>
              </a:defRPr>
            </a:pPr>
            <a:r>
              <a:t>remaining = 2s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44368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B7185"/>
                </a:solidFill>
                <a:latin typeface="Noto Sans CJK SC"/>
              </a:defRPr>
            </a:pPr>
            <a:r>
              <a:t>S₂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3017520"/>
            <a:ext cx="731520" cy="164592"/>
          </a:xfrm>
          <a:prstGeom prst="rect">
            <a:avLst/>
          </a:prstGeom>
          <a:solidFill>
            <a:srgbClr val="19243A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48840" y="3017520"/>
            <a:ext cx="6876288" cy="1645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8" y="2926080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FB7185"/>
                </a:solidFill>
                <a:latin typeface="Noto Sans CJK SC"/>
              </a:defRPr>
            </a:pPr>
            <a:r>
              <a:t>remaining = 40s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25712" y="2944368"/>
            <a:ext cx="1325880" cy="310896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2958084"/>
            <a:ext cx="117957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evict this KV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21608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Noto Sans CJK SC"/>
              </a:defRPr>
            </a:pPr>
            <a:r>
              <a:t>S₃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794760"/>
            <a:ext cx="731520" cy="164592"/>
          </a:xfrm>
          <a:prstGeom prst="rect">
            <a:avLst/>
          </a:prstGeom>
          <a:solidFill>
            <a:srgbClr val="19243A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48840" y="3794760"/>
            <a:ext cx="1773936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3703320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Noto Sans CJK SC"/>
              </a:defRPr>
            </a:pPr>
            <a:r>
              <a:t>remaining = 9s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709160"/>
            <a:ext cx="5120640" cy="93268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901184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Noto Sans CJK SC"/>
              </a:defRPr>
            </a:pPr>
            <a:r>
              <a:t>Belady-like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828032"/>
            <a:ext cx="2834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4F7FB"/>
                </a:solidFill>
                <a:latin typeface="Liberation Mono"/>
              </a:defRPr>
            </a:pPr>
            <a:r>
              <a:t>j* = arg max  τⱼ(t)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709160"/>
            <a:ext cx="5230368" cy="93268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864608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CJK SC"/>
              </a:defRPr>
            </a:pPr>
            <a:r>
              <a:t>CacheWise 的关键简化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00600"/>
            <a:ext cx="26700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不必精确预测 duration；只要把“最晚回来”的 session 排到第一。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CacheWise paper §4–5.2. τ means time to next KV reuse; predictive eviction targets relative ordering.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CacheWise 用两个互补机制减少 KV thrashing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5349240" cy="4434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572768"/>
            <a:ext cx="2514600" cy="310896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86484"/>
            <a:ext cx="236829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① PREFIX-AWARE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46634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F4F7FB"/>
                </a:solidFill>
                <a:latin typeface="Noto Sans CJK SC"/>
              </a:defRPr>
            </a:pPr>
            <a:r>
              <a:t>先服务需要新增 KV block 最少的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2560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60A5FA"/>
                </a:solidFill>
                <a:latin typeface="Liberation Mono"/>
              </a:defRPr>
            </a:pPr>
            <a:r>
              <a:t>aᵢ(t) = dᵢ − kᵢ(t)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01568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3429000"/>
            <a:ext cx="228600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92224" y="3429000"/>
            <a:ext cx="228600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340156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9FB0C6"/>
                </a:solidFill>
                <a:latin typeface="Noto Sans CJK SC"/>
              </a:defRPr>
            </a:pPr>
            <a:r>
              <a:t>+2 blocks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922776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B7185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1328" y="3950208"/>
            <a:ext cx="228600" cy="2011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224" y="3950208"/>
            <a:ext cx="228600" cy="2011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03120" y="3950208"/>
            <a:ext cx="228600" cy="2011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14016" y="3950208"/>
            <a:ext cx="228600" cy="2011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24912" y="3950208"/>
            <a:ext cx="228600" cy="2011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35808" y="3950208"/>
            <a:ext cx="228600" cy="2011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3950208"/>
            <a:ext cx="228600" cy="2011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3922776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9FB0C6"/>
                </a:solidFill>
                <a:latin typeface="Noto Sans CJK SC"/>
              </a:defRPr>
            </a:pPr>
            <a:r>
              <a:t>+7 blocks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443984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81328" y="4471416"/>
            <a:ext cx="22860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92224" y="4471416"/>
            <a:ext cx="22860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03120" y="4471416"/>
            <a:ext cx="22860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14016" y="4471416"/>
            <a:ext cx="22860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4443984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9FB0C6"/>
                </a:solidFill>
                <a:latin typeface="Noto Sans CJK SC"/>
              </a:defRPr>
            </a:pPr>
            <a:r>
              <a:t>+4 blocks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157216"/>
            <a:ext cx="45720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9FB0C6"/>
                </a:solidFill>
                <a:latin typeface="Noto Sans CJK SC"/>
              </a:defRPr>
            </a:pPr>
            <a:r>
              <a:t>结果：少动别人的 prefix，也近似 shortest-job-first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1325880"/>
            <a:ext cx="5330952" cy="4434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73952" y="1572768"/>
            <a:ext cx="2331720" cy="310896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1586484"/>
            <a:ext cx="2185415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② PREDICTIVE EVICTION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084831"/>
            <a:ext cx="4617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F4F7FB"/>
                </a:solidFill>
                <a:latin typeface="Noto Sans CJK SC"/>
              </a:defRPr>
            </a:pPr>
            <a:r>
              <a:t>真的要 evict 时，优先释放预计最晚复用的 KV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798064"/>
            <a:ext cx="4389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B7185"/>
                </a:solidFill>
                <a:latin typeface="Liberation Mono"/>
              </a:defRPr>
            </a:pPr>
            <a:r>
              <a:t>tool_name + tool_args + elapsed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182112"/>
            <a:ext cx="640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9FB0C6"/>
                </a:solidFill>
                <a:latin typeface="Noto Sans CJK SC"/>
              </a:defRPr>
            </a:pPr>
            <a: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04304" y="3566160"/>
            <a:ext cx="3474720" cy="658368"/>
          </a:xfrm>
          <a:prstGeom prst="roundRect">
            <a:avLst/>
          </a:prstGeom>
          <a:solidFill>
            <a:srgbClr val="19243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0608" y="3749039"/>
            <a:ext cx="31821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  <a:latin typeface="Liberation Mono"/>
              </a:defRPr>
            </a:pPr>
            <a:r>
              <a:t>E[ remaining | survived to elapsed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4791456"/>
            <a:ext cx="4617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50" b="0">
                <a:solidFill>
                  <a:srgbClr val="9FB0C6"/>
                </a:solidFill>
                <a:latin typeface="Noto Sans CJK SC"/>
              </a:defRPr>
            </a:pPr>
            <a:r>
              <a:t>vLLM prototype ≈2,500 Python LoC · 每 3 engine iterations 重建 eviction heap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CacheWise paper §5.1–5.3. The two mechanisms are independent in the paper ablation.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NECESSARY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Predictor 是 survival estimator，不是普通 duration regression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1527048" cy="11155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37360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  <a:latin typeface="Noto Sans CJK SC"/>
              </a:defRPr>
            </a:pPr>
            <a:r>
              <a:t>outer args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84831"/>
            <a:ext cx="13441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Liberation Mono"/>
              </a:defRPr>
            </a:pPr>
            <a:r>
              <a:t>{"command":"pytest…"}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965960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79" y="1554480"/>
            <a:ext cx="1527048" cy="11155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1737360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Noto Sans CJK SC"/>
              </a:defRPr>
            </a:pPr>
            <a:r>
              <a:t>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084831"/>
            <a:ext cx="13441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Liberation Mono"/>
              </a:defRPr>
            </a:pPr>
            <a:r>
              <a:t>≤5,000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1965960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54480"/>
            <a:ext cx="1527048" cy="11155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37360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Noto Sans CJK SC"/>
              </a:defRPr>
            </a:pPr>
            <a:r>
              <a:t>KMeans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84831"/>
            <a:ext cx="13441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Liberation Mono"/>
              </a:defRPr>
            </a:pPr>
            <a:r>
              <a:t>C=20 / 50 /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965960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1527048" cy="11155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737360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Noto Sans CJK SC"/>
              </a:defRPr>
            </a:pPr>
            <a:r>
              <a:t>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084831"/>
            <a:ext cx="13441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Liberation Mono"/>
              </a:defRPr>
            </a:pPr>
            <a:r>
              <a:t>durations in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965960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554480"/>
            <a:ext cx="1527048" cy="11155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7" y="1737360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Noto Sans CJK SC"/>
              </a:defRPr>
            </a:pPr>
            <a:r>
              <a:t>survive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084831"/>
            <a:ext cx="13441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Liberation Mono"/>
              </a:defRPr>
            </a:pPr>
            <a:r>
              <a:t>keep D &gt; elapsed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1965960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1554480"/>
            <a:ext cx="1527048" cy="11155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8" y="1737360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B7185"/>
                </a:solidFill>
                <a:latin typeface="Noto Sans CJK SC"/>
              </a:defRPr>
            </a:pPr>
            <a:r>
              <a:t>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084831"/>
            <a:ext cx="13441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Liberation Mono"/>
              </a:defRPr>
            </a:pPr>
            <a:r>
              <a:t>max E[D−e | D&gt;e]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3218688"/>
            <a:ext cx="4983480" cy="2057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3474720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Noto Sans CJK SC"/>
              </a:defRPr>
            </a:pPr>
            <a:r>
              <a:t>小例子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3895344"/>
            <a:ext cx="4114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  <a:latin typeface="Liberation Mono"/>
              </a:defRPr>
            </a:pPr>
            <a:r>
              <a:t>cluster history:  2s, 5s, 40s, 90s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325112"/>
            <a:ext cx="4114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50" b="0">
                <a:solidFill>
                  <a:srgbClr val="9FB0C6"/>
                </a:solidFill>
                <a:latin typeface="Liberation Mono"/>
              </a:defRPr>
            </a:pPr>
            <a:r>
              <a:t>elapsed = 10s  → survivors = 40, 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709160"/>
            <a:ext cx="4251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50" b="1">
                <a:solidFill>
                  <a:srgbClr val="34D399"/>
                </a:solidFill>
                <a:latin typeface="Liberation Mono"/>
              </a:defRPr>
            </a:pPr>
            <a:r>
              <a:t>prediction = mean(30, 80) = 55s remaining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7648" y="3218688"/>
            <a:ext cx="4846320" cy="2057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01968" y="3474720"/>
            <a:ext cx="1078992" cy="310896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488436"/>
            <a:ext cx="932688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977639"/>
            <a:ext cx="4114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4F7FB"/>
                </a:solidFill>
                <a:latin typeface="Noto Sans CJK SC"/>
              </a:defRPr>
            </a:pPr>
            <a:r>
              <a:t>论文的 tool_args = 完整外层 payload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4526280"/>
            <a:ext cx="4160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9FB0C6"/>
                </a:solidFill>
                <a:latin typeface="Noto Sans CJK SC"/>
              </a:defRPr>
            </a:pPr>
            <a:r>
              <a:t>不解析 shell AST · 不拆 pipeline · 不观察 execve child · 不使用 per-process counters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CacheWise paper §5.2 and footnotes 2–3 · analysis/offline/related-work.md, “CacheWise granularity”.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CLAIM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论文的 3.5× headline ≠ argument predictor 的 isolated gain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07592"/>
            <a:ext cx="5486400" cy="455371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554480"/>
            <a:ext cx="1783080" cy="310896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68195"/>
            <a:ext cx="163677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PAPER · FULL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4754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2× H200 · Qwen2.5-Coder-32B · TP=2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15184"/>
            <a:ext cx="4663440" cy="1508760"/>
          </a:xfrm>
          <a:prstGeom prst="rect">
            <a:avLst/>
          </a:prstGeom>
          <a:noFill/>
        </p:spPr>
        <p:txBody>
          <a:bodyPr wrap="square" lIns="36576" rIns="18288" t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Noto Sans CJK SC"/>
              </a:defRPr>
            </a:pPr>
            <a:r>
              <a:t>•  CATraces random 80/20 sessions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Noto Sans CJK SC"/>
              </a:defRPr>
            </a:pPr>
            <a:r>
              <a:t>•  30 / 40 / 50 concurrent sessions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Noto Sans CJK SC"/>
              </a:defRPr>
            </a:pPr>
            <a:r>
              <a:t>•  prefix-aware scheduling + predictive eviction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343400"/>
            <a:ext cx="150876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453128"/>
            <a:ext cx="12161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Noto Sans CJK SC"/>
              </a:defRPr>
            </a:pPr>
            <a:r>
              <a:t>2.7–3.5×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818888"/>
            <a:ext cx="1216151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session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4343400"/>
            <a:ext cx="141732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8064" y="4453128"/>
            <a:ext cx="1124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34D399"/>
                </a:solidFill>
                <a:latin typeface="Noto Sans CJK SC"/>
              </a:defRPr>
            </a:pPr>
            <a:r>
              <a:t>2–2.6×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4818888"/>
            <a:ext cx="112471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fewer evictions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4343400"/>
            <a:ext cx="141732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4453128"/>
            <a:ext cx="1124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BBF24"/>
                </a:solidFill>
                <a:latin typeface="Noto Sans CJK SC"/>
              </a:defRPr>
            </a:pPr>
            <a:r>
              <a:t>≤19%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4818888"/>
            <a:ext cx="112471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C100 isolated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1307592"/>
            <a:ext cx="5230368" cy="455371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0256" y="1554480"/>
            <a:ext cx="2267712" cy="310896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1568195"/>
            <a:ext cx="2121408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OURS · PREDICTOR TRANSFER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084831"/>
            <a:ext cx="4251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4F7FB"/>
                </a:solidFill>
                <a:latin typeface="Noto Sans CJK SC"/>
              </a:defRPr>
            </a:pPr>
            <a:r>
              <a:t>只复现一个必要子命题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514600"/>
            <a:ext cx="431596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100" b="1">
                <a:solidFill>
                  <a:srgbClr val="FB7185"/>
                </a:solidFill>
                <a:latin typeface="Noto Sans CJK SC"/>
              </a:defRPr>
            </a:pPr>
            <a:r>
              <a:t>“whole args 是否比 tool-name 更会排 victim？”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218688"/>
            <a:ext cx="4389120" cy="1572768"/>
          </a:xfrm>
          <a:prstGeom prst="rect">
            <a:avLst/>
          </a:prstGeom>
          <a:noFill/>
        </p:spPr>
        <p:txBody>
          <a:bodyPr wrap="square" lIns="36576" rIns="18288" t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Noto Sans CJK SC"/>
              </a:defRPr>
            </a:pPr>
            <a:r>
              <a:t>•  同样的 global / tool / C20 / C50 / C100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Noto Sans CJK SC"/>
              </a:defRPr>
            </a:pPr>
            <a:r>
              <a:t>•  同样的 conditional remaining 与 C100 primary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Noto Sans CJK SC"/>
              </a:defRPr>
            </a:pPr>
            <a:r>
              <a:t>•  没有实际 KV capacity / eviction / JCT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5074920"/>
            <a:ext cx="4434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Noto Sans CJK SC"/>
              </a:defRPr>
            </a:pPr>
            <a:r>
              <a:t>如果 predictor gate 不过，就没有理由花成本做 live serving。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CacheWise paper §6, Figures 13–19. Paper leaves temporal/cross-project drift robustness to future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DATA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我们的 traces 保留 raw args，但物理条件与论文不同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26464"/>
            <a:ext cx="2148840" cy="502920"/>
          </a:xfrm>
          <a:prstGeom prst="rect">
            <a:avLst/>
          </a:prstGeom>
          <a:solidFill>
            <a:srgbClr val="19243A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63624"/>
            <a:ext cx="20025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Noto Sans CJK SC"/>
              </a:defRPr>
            </a:pPr>
            <a:r>
              <a:t>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426464"/>
            <a:ext cx="1417320" cy="502920"/>
          </a:xfrm>
          <a:prstGeom prst="rect">
            <a:avLst/>
          </a:prstGeom>
          <a:solidFill>
            <a:srgbClr val="19243A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563624"/>
            <a:ext cx="127101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Noto Sans CJK SC"/>
              </a:defRPr>
            </a:pPr>
            <a:r>
              <a:t>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426464"/>
            <a:ext cx="1828800" cy="502920"/>
          </a:xfrm>
          <a:prstGeom prst="rect">
            <a:avLst/>
          </a:prstGeom>
          <a:solidFill>
            <a:srgbClr val="19243A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563624"/>
            <a:ext cx="168249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Noto Sans CJK SC"/>
              </a:defRPr>
            </a:pPr>
            <a:r>
              <a:t>evaluation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426464"/>
            <a:ext cx="1691640" cy="502920"/>
          </a:xfrm>
          <a:prstGeom prst="rect">
            <a:avLst/>
          </a:prstGeom>
          <a:solidFill>
            <a:srgbClr val="19243A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1563624"/>
            <a:ext cx="15453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Noto Sans CJK SC"/>
              </a:defRPr>
            </a:pPr>
            <a:r>
              <a:t>tool gaps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426464"/>
            <a:ext cx="2788920" cy="502920"/>
          </a:xfrm>
          <a:prstGeom prst="rect">
            <a:avLst/>
          </a:prstGeom>
          <a:solidFill>
            <a:srgbClr val="19243A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563624"/>
            <a:ext cx="2642615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Noto Sans CJK SC"/>
              </a:defRPr>
            </a:pPr>
            <a:r>
              <a:t>observed ranking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029968"/>
            <a:ext cx="2148840" cy="713232"/>
          </a:xfrm>
          <a:prstGeom prst="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157984"/>
            <a:ext cx="200253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4F7FB"/>
                </a:solidFill>
                <a:latin typeface="Noto Sans CJK SC"/>
              </a:defRPr>
            </a:pPr>
            <a:r>
              <a:t>SWE-ReBench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029968"/>
            <a:ext cx="1417320" cy="713232"/>
          </a:xfrm>
          <a:prstGeom prst="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2157984"/>
            <a:ext cx="127101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00" b="0">
                <a:solidFill>
                  <a:srgbClr val="F4F7FB"/>
                </a:solidFill>
                <a:latin typeface="Noto Sans CJK SC"/>
              </a:defRPr>
            </a:pPr>
            <a:r>
              <a:t>100 sessions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029968"/>
            <a:ext cx="1828800" cy="713232"/>
          </a:xfrm>
          <a:prstGeom prst="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2157984"/>
            <a:ext cx="168249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00" b="0">
                <a:solidFill>
                  <a:srgbClr val="F4F7FB"/>
                </a:solidFill>
                <a:latin typeface="Noto Sans CJK SC"/>
              </a:defRPr>
            </a:pPr>
            <a:r>
              <a:t>277 sessions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2029968"/>
            <a:ext cx="1691640" cy="713232"/>
          </a:xfrm>
          <a:prstGeom prst="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2157984"/>
            <a:ext cx="154533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00" b="0">
                <a:solidFill>
                  <a:srgbClr val="F4F7FB"/>
                </a:solidFill>
                <a:latin typeface="Noto Sans CJK SC"/>
              </a:defRPr>
            </a:pPr>
            <a:r>
              <a:t>4,175 → 12,771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029968"/>
            <a:ext cx="2788920" cy="713232"/>
          </a:xfrm>
          <a:prstGeom prst="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2157984"/>
            <a:ext cx="2642615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00" b="0">
                <a:solidFill>
                  <a:srgbClr val="F4F7FB"/>
                </a:solidFill>
                <a:latin typeface="Noto Sans CJK SC"/>
              </a:defRPr>
            </a:pPr>
            <a:r>
              <a:t>2,410 events · max c=2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71216"/>
            <a:ext cx="2148840" cy="713232"/>
          </a:xfrm>
          <a:prstGeom prst="rect">
            <a:avLst/>
          </a:prstGeom>
          <a:solidFill>
            <a:srgbClr val="10192B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2999232"/>
            <a:ext cx="200253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4F7FB"/>
                </a:solidFill>
                <a:latin typeface="Noto Sans CJK SC"/>
              </a:defRPr>
            </a:pPr>
            <a:r>
              <a:t>Terminal-Bench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2871216"/>
            <a:ext cx="1417320" cy="713232"/>
          </a:xfrm>
          <a:prstGeom prst="rect">
            <a:avLst/>
          </a:prstGeom>
          <a:solidFill>
            <a:srgbClr val="10192B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2999232"/>
            <a:ext cx="127101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00" b="0">
                <a:solidFill>
                  <a:srgbClr val="F4F7FB"/>
                </a:solidFill>
                <a:latin typeface="Noto Sans CJK SC"/>
              </a:defRPr>
            </a:pPr>
            <a:r>
              <a:t>139 declared</a:t>
            </a:r>
            <a:br/>
            <a:r>
              <a:t>136 w/ gaps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2871216"/>
            <a:ext cx="1828800" cy="713232"/>
          </a:xfrm>
          <a:prstGeom prst="rect">
            <a:avLst/>
          </a:prstGeom>
          <a:solidFill>
            <a:srgbClr val="10192B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2999232"/>
            <a:ext cx="168249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00" b="0">
                <a:solidFill>
                  <a:srgbClr val="F4F7FB"/>
                </a:solidFill>
                <a:latin typeface="Noto Sans CJK SC"/>
              </a:defRPr>
            </a:pPr>
            <a:r>
              <a:t>100 declared</a:t>
            </a:r>
            <a:br/>
            <a:r>
              <a:t>99 w/ gaps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2871216"/>
            <a:ext cx="1691640" cy="713232"/>
          </a:xfrm>
          <a:prstGeom prst="rect">
            <a:avLst/>
          </a:prstGeom>
          <a:solidFill>
            <a:srgbClr val="10192B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2552" y="2999232"/>
            <a:ext cx="154533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00" b="0">
                <a:solidFill>
                  <a:srgbClr val="F4F7FB"/>
                </a:solidFill>
                <a:latin typeface="Noto Sans CJK SC"/>
              </a:defRPr>
            </a:pPr>
            <a:r>
              <a:t>1,888 → 1,227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871216"/>
            <a:ext cx="2788920" cy="713232"/>
          </a:xfrm>
          <a:prstGeom prst="rect">
            <a:avLst/>
          </a:prstGeom>
          <a:solidFill>
            <a:srgbClr val="10192B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2999232"/>
            <a:ext cx="2642615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00" b="0">
                <a:solidFill>
                  <a:srgbClr val="F4F7FB"/>
                </a:solidFill>
                <a:latin typeface="Noto Sans CJK SC"/>
              </a:defRPr>
            </a:pPr>
            <a:r>
              <a:t>synthetic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3913632"/>
            <a:ext cx="3246120" cy="166420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0120" y="4160520"/>
            <a:ext cx="914400" cy="310896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" y="4174235"/>
            <a:ext cx="76809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WE HAVE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590288"/>
            <a:ext cx="269748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50" b="1">
                <a:solidFill>
                  <a:srgbClr val="F4F7FB"/>
                </a:solidFill>
                <a:latin typeface="Noto Sans CJK SC"/>
              </a:defRPr>
            </a:pPr>
            <a:r>
              <a:t>raw outer tool args</a:t>
            </a:r>
            <a:br/>
            <a:r>
              <a:t>≈0.5s causal CPU/network samples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3913632"/>
            <a:ext cx="3246120" cy="166420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62272" y="4160520"/>
            <a:ext cx="1417320" cy="310896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5424" y="4174235"/>
            <a:ext cx="12710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WE DO NOT HAVE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2272" y="4590288"/>
            <a:ext cx="269748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50" b="1">
                <a:solidFill>
                  <a:srgbClr val="F4F7FB"/>
                </a:solidFill>
                <a:latin typeface="Noto Sans CJK SC"/>
              </a:defRPr>
            </a:pPr>
            <a:r>
              <a:t>recorded shared KV pressure</a:t>
            </a:r>
            <a:br/>
            <a:r>
              <a:t>actual eviction / recompute feedback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08392" y="3913632"/>
            <a:ext cx="3584448" cy="166420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973568" y="4160520"/>
            <a:ext cx="1143000" cy="310896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4174235"/>
            <a:ext cx="99669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SYNTHETIC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4590288"/>
            <a:ext cx="288036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50" b="1">
                <a:solidFill>
                  <a:srgbClr val="F4F7FB"/>
                </a:solidFill>
                <a:latin typeface="Noto Sans CJK SC"/>
              </a:defRPr>
            </a:pPr>
            <a:r>
              <a:t>只平移真实 trace 的到达时间</a:t>
            </a:r>
            <a:br/>
            <a:r>
              <a:t>内部 gap duration 保持不变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Local artifacts: SWE/TB result.json data fields; analysis/offline/related-work.md. All corpora are development-exposed.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METRIC · LOWER IS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唯一主指标：选错 victim 会损失多少“可释放时间”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Noto Sans CJK SC"/>
              </a:defRPr>
            </a:pPr>
            <a:r>
              <a:t>ranking event @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4754880" cy="5943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29967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02536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F4F7FB"/>
                </a:solidFill>
                <a:latin typeface="Liberation Mono"/>
              </a:defRPr>
            </a:pPr>
            <a:r>
              <a:t>actual remaining  40s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00253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9FB0C6"/>
                </a:solidFill>
                <a:latin typeface="Liberation Mono"/>
              </a:defRPr>
            </a:pPr>
            <a:r>
              <a:t>tool predicts  10s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79191"/>
            <a:ext cx="4754880" cy="5943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34639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07208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F4F7FB"/>
                </a:solidFill>
                <a:latin typeface="Liberation Mono"/>
              </a:defRPr>
            </a:pPr>
            <a:r>
              <a:t>actual remaining  15s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807208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9FB0C6"/>
                </a:solidFill>
                <a:latin typeface="Liberation Mono"/>
              </a:defRPr>
            </a:pPr>
            <a:r>
              <a:t>tool predicts  20s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483863"/>
            <a:ext cx="4754880" cy="5943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39311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611879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F4F7FB"/>
                </a:solidFill>
                <a:latin typeface="Liberation Mono"/>
              </a:defRPr>
            </a:pPr>
            <a:r>
              <a:t>actual remaining   4s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611879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9FB0C6"/>
                </a:solidFill>
                <a:latin typeface="Liberation Mono"/>
              </a:defRPr>
            </a:pPr>
            <a:r>
              <a:t>tool predicts   5s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709160"/>
            <a:ext cx="1600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BBF24"/>
                </a:solidFill>
                <a:latin typeface="Noto Sans CJK SC"/>
              </a:defRPr>
            </a:pPr>
            <a:r>
              <a:t>tool chooses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681728"/>
            <a:ext cx="548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700016"/>
            <a:ext cx="2487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87171"/>
                </a:solidFill>
                <a:latin typeface="Noto Sans CJK SC"/>
              </a:defRPr>
            </a:pPr>
            <a:r>
              <a:t>regret = 40 − 15 = 25s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1426464"/>
            <a:ext cx="5175504" cy="4261104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737360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Noto Sans CJK SC"/>
              </a:defRPr>
            </a:pPr>
            <a:r>
              <a:t>定义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03120"/>
            <a:ext cx="438912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50" b="1">
                <a:solidFill>
                  <a:srgbClr val="F4F7FB"/>
                </a:solidFill>
                <a:latin typeface="Liberation Mono"/>
              </a:defRPr>
            </a:pPr>
            <a:r>
              <a:t>regret = max(actual remaining)</a:t>
            </a:r>
            <a:br/>
            <a:r>
              <a:t>              − chosen actual remaining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73552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Noto Sans CJK SC"/>
              </a:defRPr>
            </a:pPr>
            <a:r>
              <a:t>0 = oracle choice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30752"/>
            <a:ext cx="437083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Liberation Mono"/>
              </a:defRPr>
            </a:pPr>
            <a:r>
              <a:t>Δ = mean regret(candidate) − mean regret(tool)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370832"/>
            <a:ext cx="3063240" cy="310896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384548"/>
            <a:ext cx="291693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GO only if 95% CI upper &lt;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82896"/>
            <a:ext cx="4370832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9FB0C6"/>
                </a:solidFill>
                <a:latin typeface="Noto Sans CJK SC"/>
              </a:defRPr>
            </a:pPr>
            <a:r>
              <a:t>口径：hypothetical victim ordering</a:t>
            </a:r>
            <a:br/>
            <a:r>
              <a:t>≠ eviction count  ≠ KV bytes  ≠ JCT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Local protocol: analysis/offline/related-work.md; src/tool_resource_eval/cachewise_reproduction.py::evaluate.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DECISION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五个冻结实验逐步排除四种解释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1408176"/>
            <a:ext cx="420624" cy="420624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72184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Noto Sans CJK SC"/>
              </a:defRPr>
            </a:pPr>
            <a: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1828800"/>
            <a:ext cx="0" cy="475488"/>
          </a:xfrm>
          <a:prstGeom prst="line">
            <a:avLst/>
          </a:prstGeom>
          <a:ln w="3810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17320" y="1298448"/>
            <a:ext cx="9857232" cy="7132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463039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SWE observed overlap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472184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9FB0C6"/>
                </a:solidFill>
                <a:latin typeface="Noto Sans CJK SC"/>
              </a:defRPr>
            </a:pPr>
            <a:r>
              <a:t>whole args?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444751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700" b="1">
                <a:solidFill>
                  <a:srgbClr val="F87171"/>
                </a:solidFill>
                <a:latin typeface="Liberation Mono"/>
              </a:defRPr>
            </a:pPr>
            <a:r>
              <a:t>+0.587s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463039"/>
            <a:ext cx="1417320" cy="310896"/>
          </a:xfrm>
          <a:prstGeom prst="round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5672" y="1476755"/>
            <a:ext cx="12710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NO-GO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340864"/>
            <a:ext cx="420624" cy="420624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404872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Noto Sans CJK SC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" y="2761488"/>
            <a:ext cx="0" cy="475488"/>
          </a:xfrm>
          <a:prstGeom prst="line">
            <a:avLst/>
          </a:prstGeom>
          <a:ln w="3810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417320" y="2231136"/>
            <a:ext cx="9857232" cy="7132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2395728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causal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404872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9FB0C6"/>
                </a:solidFill>
                <a:latin typeface="Noto Sans CJK SC"/>
              </a:defRPr>
            </a:pPr>
            <a:r>
              <a:t>live counters?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37744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700" b="1">
                <a:solidFill>
                  <a:srgbClr val="F87171"/>
                </a:solidFill>
                <a:latin typeface="Liberation Mono"/>
              </a:defRPr>
            </a:pPr>
            <a:r>
              <a:t>+0.505s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2395728"/>
            <a:ext cx="1417320" cy="310896"/>
          </a:xfrm>
          <a:prstGeom prst="round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672" y="2409444"/>
            <a:ext cx="12710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NO-GO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" y="3273552"/>
            <a:ext cx="420624" cy="420624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337560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Noto Sans CJK SC"/>
              </a:defRPr>
            </a:pPr>
            <a: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0120" y="3694176"/>
            <a:ext cx="0" cy="475488"/>
          </a:xfrm>
          <a:prstGeom prst="line">
            <a:avLst/>
          </a:prstGeom>
          <a:ln w="3810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17320" y="3163824"/>
            <a:ext cx="9857232" cy="7132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3328416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SWE synthetic c32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33756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9FB0C6"/>
                </a:solidFill>
                <a:latin typeface="Noto Sans CJK SC"/>
              </a:defRPr>
            </a:pPr>
            <a:r>
              <a:t>overlap too sparse?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310128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700" b="1">
                <a:solidFill>
                  <a:srgbClr val="F87171"/>
                </a:solidFill>
                <a:latin typeface="Liberation Mono"/>
              </a:defRPr>
            </a:pPr>
            <a:r>
              <a:t>+1.847s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3328416"/>
            <a:ext cx="1417320" cy="310896"/>
          </a:xfrm>
          <a:prstGeom prst="round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05672" y="3342132"/>
            <a:ext cx="12710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NO-GO</a:t>
            </a:r>
          </a:p>
        </p:txBody>
      </p:sp>
      <p:sp>
        <p:nvSpPr>
          <p:cNvPr id="33" name="Oval 32"/>
          <p:cNvSpPr/>
          <p:nvPr/>
        </p:nvSpPr>
        <p:spPr>
          <a:xfrm>
            <a:off x="749808" y="4206240"/>
            <a:ext cx="420624" cy="420624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270248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Noto Sans CJK SC"/>
              </a:defRPr>
            </a:pPr>
            <a:r>
              <a:t>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0120" y="4626864"/>
            <a:ext cx="0" cy="475488"/>
          </a:xfrm>
          <a:prstGeom prst="line">
            <a:avLst/>
          </a:prstGeom>
          <a:ln w="3810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417320" y="4096512"/>
            <a:ext cx="9857232" cy="7132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4261104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TB synthetic c32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4270248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9FB0C6"/>
                </a:solidFill>
                <a:latin typeface="Noto Sans CJK SC"/>
              </a:defRPr>
            </a:pPr>
            <a:r>
              <a:t>corpus-specific?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242816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700" b="1">
                <a:solidFill>
                  <a:srgbClr val="FBBF24"/>
                </a:solidFill>
                <a:latin typeface="Liberation Mono"/>
              </a:defRPr>
            </a:pPr>
            <a:r>
              <a:t>−72.299s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4261104"/>
            <a:ext cx="1417320" cy="310896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05672" y="4274820"/>
            <a:ext cx="12710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FRAGILE</a:t>
            </a:r>
          </a:p>
        </p:txBody>
      </p:sp>
      <p:sp>
        <p:nvSpPr>
          <p:cNvPr id="42" name="Oval 41"/>
          <p:cNvSpPr/>
          <p:nvPr/>
        </p:nvSpPr>
        <p:spPr>
          <a:xfrm>
            <a:off x="749808" y="5138928"/>
            <a:ext cx="420624" cy="420624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202936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17320" y="5029200"/>
            <a:ext cx="9857232" cy="7132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20" y="5193792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exact timeout + LOTO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9080" y="5202936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9FB0C6"/>
                </a:solidFill>
                <a:latin typeface="Noto Sans CJK SC"/>
              </a:defRPr>
            </a:pPr>
            <a:r>
              <a:t>simple signal stable?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5175504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700" b="1">
                <a:solidFill>
                  <a:srgbClr val="F87171"/>
                </a:solidFill>
                <a:latin typeface="Liberation Mono"/>
              </a:defRPr>
            </a:pPr>
            <a:r>
              <a:t>+4.012s*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32520" y="5193792"/>
            <a:ext cx="1417320" cy="310896"/>
          </a:xfrm>
          <a:prstGeom prst="round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05672" y="5207507"/>
            <a:ext cx="127101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NO-GO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609904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Noto Sans CJK SC"/>
              </a:defRPr>
            </a:pPr>
            <a:r>
              <a:t>* step 5 reports the predeclared worst delete-one-task result; aggregate timeout Δ = −17.271s.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Frozen protocols and outcomes: analysis/development/research-directions-20260729.md.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RESULT 1 · OBSERVED OVERLAP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SWE：argument clustering 增大 regret，主 gate 失败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914400" cy="63459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9FB0C6"/>
                </a:solidFill>
                <a:latin typeface="Noto Sans CJK SC"/>
              </a:defRPr>
            </a:pPr>
            <a:r>
              <a:t>global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928" y="1508760"/>
            <a:ext cx="1903688" cy="479145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67528" y="1444752"/>
            <a:ext cx="960120" cy="63459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200" b="1">
                <a:solidFill>
                  <a:srgbClr val="F4F7FB"/>
                </a:solidFill>
                <a:latin typeface="Noto Sans CJK SC"/>
              </a:defRPr>
            </a:pPr>
            <a:r>
              <a:t>0.778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25065"/>
            <a:ext cx="914400" cy="63459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9FB0C6"/>
                </a:solidFill>
                <a:latin typeface="Noto Sans CJK SC"/>
              </a:defRPr>
            </a:pPr>
            <a:r>
              <a:t>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9928" y="2189073"/>
            <a:ext cx="1908418" cy="479145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7528" y="2125065"/>
            <a:ext cx="960120" cy="63459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200" b="1">
                <a:solidFill>
                  <a:srgbClr val="F4F7FB"/>
                </a:solidFill>
                <a:latin typeface="Noto Sans CJK SC"/>
              </a:defRPr>
            </a:pPr>
            <a:r>
              <a:t>0.780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05379"/>
            <a:ext cx="914400" cy="63459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9FB0C6"/>
                </a:solidFill>
                <a:latin typeface="Noto Sans CJK SC"/>
              </a:defRPr>
            </a:pPr>
            <a:r>
              <a:t>C20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2869387"/>
            <a:ext cx="2098803" cy="479145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805379"/>
            <a:ext cx="960120" cy="63459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200" b="1">
                <a:solidFill>
                  <a:srgbClr val="F4F7FB"/>
                </a:solidFill>
                <a:latin typeface="Noto Sans CJK SC"/>
              </a:defRPr>
            </a:pPr>
            <a:r>
              <a:t>0.857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85692"/>
            <a:ext cx="914400" cy="63459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9FB0C6"/>
                </a:solidFill>
                <a:latin typeface="Noto Sans CJK SC"/>
              </a:defRPr>
            </a:pPr>
            <a:r>
              <a:t>C50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09928" y="3549700"/>
            <a:ext cx="2887496" cy="479145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3485692"/>
            <a:ext cx="960120" cy="63459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200" b="1">
                <a:solidFill>
                  <a:srgbClr val="F4F7FB"/>
                </a:solidFill>
                <a:latin typeface="Noto Sans CJK SC"/>
              </a:defRPr>
            </a:pPr>
            <a:r>
              <a:t>1.179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66006"/>
            <a:ext cx="914400" cy="63459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9FB0C6"/>
                </a:solidFill>
                <a:latin typeface="Noto Sans CJK SC"/>
              </a:defRPr>
            </a:pPr>
            <a:r>
              <a:t>C100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09928" y="4230014"/>
            <a:ext cx="3344333" cy="479145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8" y="4166006"/>
            <a:ext cx="960120" cy="63459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200" b="1">
                <a:solidFill>
                  <a:srgbClr val="F4F7FB"/>
                </a:solidFill>
                <a:latin typeface="Noto Sans CJK SC"/>
              </a:defRPr>
            </a:pPr>
            <a:r>
              <a:t>1.366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837176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9FB0C6"/>
                </a:solidFill>
                <a:latin typeface="Noto Sans CJK SC"/>
              </a:defRPr>
            </a:pPr>
            <a:r>
              <a:t>↓ lower is better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48272" y="1417320"/>
            <a:ext cx="4462272" cy="1417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1664208"/>
            <a:ext cx="3474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9FB0C6"/>
                </a:solidFill>
                <a:latin typeface="Noto Sans CJK SC"/>
              </a:defRPr>
            </a:pPr>
            <a:r>
              <a:t>PRIMARY  C100 −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1993392"/>
            <a:ext cx="210312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87171"/>
                </a:solidFill>
                <a:latin typeface="Noto Sans CJK SC"/>
              </a:defRPr>
            </a:pPr>
            <a:r>
              <a:t>+0.587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1911095"/>
            <a:ext cx="1664208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4F7FB"/>
                </a:solidFill>
                <a:latin typeface="Noto Sans CJK SC"/>
              </a:defRPr>
            </a:pPr>
            <a:r>
              <a:t>95% CI</a:t>
            </a:r>
            <a:br/>
            <a:r>
              <a:t>[+0.120, +1.188]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3401568"/>
            <a:ext cx="37673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47254" y="3163824"/>
            <a:ext cx="0" cy="475488"/>
          </a:xfrm>
          <a:prstGeom prst="line">
            <a:avLst/>
          </a:prstGeom>
          <a:ln w="17780">
            <a:solidFill>
              <a:srgbClr val="F4F7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029803" y="3401568"/>
            <a:ext cx="2514692" cy="0"/>
          </a:xfrm>
          <a:prstGeom prst="line">
            <a:avLst/>
          </a:prstGeom>
          <a:ln w="635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29803" y="3300984"/>
            <a:ext cx="0" cy="201168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44495" y="3300984"/>
            <a:ext cx="0" cy="201168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060812" y="3332988"/>
            <a:ext cx="137160" cy="13716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3566160"/>
            <a:ext cx="37673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F7FB"/>
                </a:solidFill>
                <a:latin typeface="Noto Sans CJK SC"/>
              </a:defRPr>
            </a:pPr>
            <a:r>
              <a:t>Δ mean victim regret (s)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017520"/>
            <a:ext cx="660653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0">
                <a:solidFill>
                  <a:srgbClr val="34D399"/>
                </a:solidFill>
                <a:latin typeface="Noto Sans CJK SC"/>
              </a:defRPr>
            </a:pPr>
            <a:r>
              <a:t>better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2974" y="3017520"/>
            <a:ext cx="306095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F87171"/>
                </a:solidFill>
                <a:latin typeface="Noto Sans CJK SC"/>
              </a:defRPr>
            </a:pPr>
            <a:r>
              <a:t>worse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48272" y="4133087"/>
            <a:ext cx="4462272" cy="130759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4352544"/>
            <a:ext cx="2011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CJK SC"/>
              </a:defRPr>
            </a:pPr>
            <a:r>
              <a:t>rare tail dominates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4736592"/>
            <a:ext cx="2084831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4F7FB"/>
                </a:solidFill>
                <a:latin typeface="Noto Sans CJK SC"/>
              </a:defRPr>
            </a:pPr>
            <a:r>
              <a:t>top-1: 93.98% → 94.07%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473659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Noto Sans CJK SC"/>
              </a:defRPr>
            </a:pPr>
            <a:r>
              <a:t>p99 regret: 17.3s → 35.5s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5715000"/>
            <a:ext cx="102412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9FB0C6"/>
                </a:solidFill>
                <a:latin typeface="Noto Sans CJK SC"/>
              </a:defRPr>
            </a:pPr>
            <a:r>
              <a:t>90 choice changes: 46 help / 44 harm · harm 1,803s vs help 390s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Source: analysis/results/cachewise-swe-reproduction-20260731/result.json; tail diagnostic in analysis/offline/related-work.md.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FAILURE ANALYSIS · EVIDENCE VS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SWE 失败不是“cluster 太小”，而是相似命令跨 repo 的尺度不同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5623560" cy="455371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572768"/>
            <a:ext cx="1097280" cy="310896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86484"/>
            <a:ext cx="95097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48256"/>
            <a:ext cx="4800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syntactically similar pytest / test-suite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770632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9FB0C6"/>
                </a:solidFill>
                <a:latin typeface="Noto Sans CJK SC"/>
              </a:defRPr>
            </a:pPr>
            <a:r>
              <a:t>FIT cluster 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2660904"/>
            <a:ext cx="14630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BBF24"/>
                </a:solidFill>
                <a:latin typeface="Noto Sans CJK SC"/>
              </a:defRPr>
            </a:pPr>
            <a:r>
              <a:t>3–29s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7552" y="3246120"/>
            <a:ext cx="4480560" cy="0"/>
          </a:xfrm>
          <a:prstGeom prst="line">
            <a:avLst/>
          </a:prstGeom>
          <a:ln w="1270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9264" y="3511296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9FB0C6"/>
                </a:solidFill>
                <a:latin typeface="Noto Sans CJK SC"/>
              </a:defRPr>
            </a:pPr>
            <a:r>
              <a:t>HELD-OUT still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01568"/>
            <a:ext cx="205740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B7185"/>
                </a:solidFill>
                <a:latin typeface="Noto Sans CJK SC"/>
              </a:defRPr>
            </a:pPr>
            <a:r>
              <a:t>108–300s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233672"/>
            <a:ext cx="2788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Noto Sans CJK SC"/>
              </a:defRPr>
            </a:pPr>
            <a:r>
              <a:t>C100 predicts 0–5s remaining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233672"/>
            <a:ext cx="24231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Noto Sans CJK SC"/>
              </a:defRPr>
            </a:pPr>
            <a:r>
              <a:t>tool-name predicts 20–53s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800600"/>
            <a:ext cx="475488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9FB0C6"/>
                </a:solidFill>
                <a:latin typeface="Noto Sans CJK SC"/>
              </a:defRPr>
            </a:pPr>
            <a:r>
              <a:t>median harmful-cluster surviving support = 36</a:t>
            </a:r>
            <a:br/>
            <a:r>
              <a:t>→ 不是简单 singleton 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1325880"/>
            <a:ext cx="5029200" cy="199339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93992" y="1572768"/>
            <a:ext cx="1691640" cy="310896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1586484"/>
            <a:ext cx="154533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SUPPORTED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2084831"/>
            <a:ext cx="420624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4F7FB"/>
                </a:solidFill>
                <a:latin typeface="Noto Sans CJK SC"/>
              </a:defRPr>
            </a:pPr>
            <a:r>
              <a:t>TF-IDF 识别“在跑测试”，</a:t>
            </a:r>
            <a:br/>
            <a:r>
              <a:t>却看不到 suite scale、dependency/cache state、repo-specific work。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3566160"/>
            <a:ext cx="5029200" cy="231343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93992" y="3840480"/>
            <a:ext cx="1170432" cy="310896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7144" y="3854196"/>
            <a:ext cx="1024128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NOT TESTED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4370832"/>
            <a:ext cx="4023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4F7FB"/>
                </a:solidFill>
                <a:latin typeface="Noto Sans CJK SC"/>
              </a:defRPr>
            </a:pPr>
            <a:r>
              <a:t>环境状态特征是否能泛化？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864608"/>
            <a:ext cx="41605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9FB0C6"/>
                </a:solidFill>
                <a:latin typeface="Noto Sans CJK SC"/>
              </a:defRPr>
            </a:pPr>
            <a:r>
              <a:t>repo size · test inventory · dependency/cache state · process phase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5321808"/>
            <a:ext cx="41605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87171"/>
                </a:solidFill>
                <a:latin typeface="Noto Sans CJK SC"/>
              </a:defRPr>
            </a:pPr>
            <a:r>
              <a:t>不能在已暴露 fresh-277 上继续调 tokenization / support threshold。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Source: analysis/offline/related-work.md, post-result mechanism diagnostic. Top-10 task pairs explain 91.5% of harmful delta.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RESULT 2 · CAUSAL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Progress counters 改善 MAE，却把 ranking 决策推向错误方向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914400" cy="8001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9FB0C6"/>
                </a:solidFill>
                <a:latin typeface="Noto Sans CJK SC"/>
              </a:defRPr>
            </a:pPr>
            <a:r>
              <a:t>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928" y="1508760"/>
            <a:ext cx="1875890" cy="6446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3208" y="1444752"/>
            <a:ext cx="960120" cy="8001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200" b="1">
                <a:solidFill>
                  <a:srgbClr val="F4F7FB"/>
                </a:solidFill>
                <a:latin typeface="Noto Sans CJK SC"/>
              </a:defRPr>
            </a:pPr>
            <a:r>
              <a:t>0.780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90572"/>
            <a:ext cx="914400" cy="8001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9FB0C6"/>
                </a:solidFill>
                <a:latin typeface="Noto Sans CJK SC"/>
              </a:defRPr>
            </a:pPr>
            <a:r>
              <a:t>progress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9928" y="2354580"/>
            <a:ext cx="3090333" cy="6446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93208" y="2290572"/>
            <a:ext cx="960120" cy="8001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200" b="1">
                <a:solidFill>
                  <a:srgbClr val="F4F7FB"/>
                </a:solidFill>
                <a:latin typeface="Noto Sans CJK SC"/>
              </a:defRPr>
            </a:pPr>
            <a:r>
              <a:t>1.284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3127248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9FB0C6"/>
                </a:solidFill>
                <a:latin typeface="Noto Sans CJK SC"/>
              </a:defRPr>
            </a:pPr>
            <a:r>
              <a:t>↓ lower is better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794760"/>
            <a:ext cx="47548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33203" y="3557016"/>
            <a:ext cx="0" cy="475488"/>
          </a:xfrm>
          <a:prstGeom prst="line">
            <a:avLst/>
          </a:prstGeom>
          <a:ln w="17780">
            <a:solidFill>
              <a:srgbClr val="F4F7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44116" y="3794760"/>
            <a:ext cx="2325569" cy="0"/>
          </a:xfrm>
          <a:prstGeom prst="line">
            <a:avLst/>
          </a:prstGeom>
          <a:ln w="635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44116" y="3694176"/>
            <a:ext cx="0" cy="201168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69685" y="3694176"/>
            <a:ext cx="0" cy="201168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847545" y="3726180"/>
            <a:ext cx="137160" cy="13716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59352"/>
            <a:ext cx="4754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F7FB"/>
                </a:solidFill>
                <a:latin typeface="Noto Sans CJK SC"/>
              </a:defRPr>
            </a:pPr>
            <a:r>
              <a:t>progress − tool regret 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818803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0">
                <a:solidFill>
                  <a:srgbClr val="34D399"/>
                </a:solidFill>
                <a:latin typeface="Noto Sans CJK SC"/>
              </a:defRPr>
            </a:pPr>
            <a:r>
              <a:t>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8923" y="3410712"/>
            <a:ext cx="38903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F87171"/>
                </a:solidFill>
                <a:latin typeface="Noto Sans CJK SC"/>
              </a:defRPr>
            </a:pPr>
            <a:r>
              <a:t>worse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389888"/>
            <a:ext cx="4919472" cy="4434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664208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Noto Sans CJK SC"/>
              </a:defRPr>
            </a:pPr>
            <a:r>
              <a:t>point prediction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56832" y="2084831"/>
            <a:ext cx="196596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2194560"/>
            <a:ext cx="1673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Noto Sans CJK SC"/>
              </a:defRPr>
            </a:pPr>
            <a:r>
              <a:t>57.43→55.24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3136" y="2560320"/>
            <a:ext cx="1673351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MAE improves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87968" y="2084831"/>
            <a:ext cx="196596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4272" y="2194560"/>
            <a:ext cx="1673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50" b="1">
                <a:solidFill>
                  <a:srgbClr val="FB7185"/>
                </a:solidFill>
                <a:latin typeface="Noto Sans CJK SC"/>
              </a:defRPr>
            </a:pPr>
            <a:r>
              <a:t>+26.25→−16.83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2560320"/>
            <a:ext cx="1673351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signed error flips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364992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CJK SC"/>
              </a:defRPr>
            </a:pPr>
            <a:r>
              <a:t>decision boundary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6832" y="3776472"/>
            <a:ext cx="196596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3136" y="3886200"/>
            <a:ext cx="1673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87171"/>
                </a:solidFill>
                <a:latin typeface="Noto Sans CJK SC"/>
              </a:defRPr>
            </a:pPr>
            <a:r>
              <a:t>8 / 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251960"/>
            <a:ext cx="1673351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help / harm changes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3776472"/>
            <a:ext cx="1965960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4272" y="3886200"/>
            <a:ext cx="1673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Noto Sans CJK SC"/>
              </a:defRPr>
            </a:pPr>
            <a:r>
              <a:t>32.9 / 1,249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4251960"/>
            <a:ext cx="1673351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help / harm seconds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138928"/>
            <a:ext cx="4160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4F7FB"/>
                </a:solidFill>
                <a:latin typeface="Noto Sans CJK SC"/>
              </a:defRPr>
            </a:pPr>
            <a:r>
              <a:t>OBSERVED: 71 changes都从 still-running gap 转向新到达 gap。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532120"/>
            <a:ext cx="4160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Noto Sans CJK SC"/>
              </a:defRPr>
            </a:pPr>
            <a:r>
              <a:t>INFERENCE: model 对活跃长任务变得过度乐观；fit metric 与 policy utility 方向相反。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Source: analysis/results/cachewise-progress-counter-20260731/result.json. Features are causal ≈0.5s CPU/network samples.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RESULT 3 · FIXED-DURATION COUNTERFACTUAL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把 concurrency 合成到 c32，SWE 仍然失败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63039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9FB0C6"/>
                </a:solidFill>
                <a:latin typeface="Noto Sans CJK SC"/>
              </a:defRPr>
            </a:pPr>
            <a:r>
              <a:t>task A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508760"/>
            <a:ext cx="2765145" cy="1554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01952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9FB0C6"/>
                </a:solidFill>
                <a:latin typeface="Noto Sans CJK SC"/>
              </a:defRPr>
            </a:pPr>
            <a:r>
              <a:t>task B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3392" y="1947672"/>
            <a:ext cx="1958644" cy="1554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40864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9FB0C6"/>
                </a:solidFill>
                <a:latin typeface="Noto Sans CJK SC"/>
              </a:defRPr>
            </a:pPr>
            <a:r>
              <a:t>task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9464" y="2386584"/>
            <a:ext cx="2477109" cy="1554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779776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9FB0C6"/>
                </a:solidFill>
                <a:latin typeface="Noto Sans CJK SC"/>
              </a:defRPr>
            </a:pPr>
            <a:r>
              <a:t>task 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45536" y="2825496"/>
            <a:ext cx="1440180" cy="1554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401568"/>
            <a:ext cx="4846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CJK SC"/>
              </a:defRPr>
            </a:pPr>
            <a:r>
              <a:t>arrival shifts only; each trace keeps its internal gaps + durations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840480"/>
            <a:ext cx="1572768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950208"/>
            <a:ext cx="1280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2DD4BF"/>
                </a:solidFill>
                <a:latin typeface="Noto Sans CJK SC"/>
              </a:defRPr>
            </a:pPr>
            <a: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315968"/>
            <a:ext cx="1280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arrival seeds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23744" y="3840480"/>
            <a:ext cx="1572768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3950208"/>
            <a:ext cx="1280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2DD4BF"/>
                </a:solidFill>
                <a:latin typeface="Noto Sans CJK SC"/>
              </a:defRPr>
            </a:pPr>
            <a:r>
              <a:t>22.2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4315968"/>
            <a:ext cx="1280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mean live 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1572768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3950208"/>
            <a:ext cx="1280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2DD4BF"/>
                </a:solidFill>
                <a:latin typeface="Noto Sans CJK SC"/>
              </a:defRPr>
            </a:pPr>
            <a:r>
              <a:t>36–42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4315968"/>
            <a:ext cx="1280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F7FB"/>
                </a:solidFill>
                <a:latin typeface="Noto Sans CJK SC"/>
              </a:defRPr>
            </a:pPr>
            <a:r>
              <a:t>max live sessions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1389888"/>
            <a:ext cx="5074920" cy="446227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1700784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4F7FB"/>
                </a:solidFill>
                <a:latin typeface="Noto Sans CJK SC"/>
              </a:defRPr>
            </a:pPr>
            <a:r>
              <a:t>SWE synthetic-c32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235915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9FB0C6"/>
                </a:solidFill>
                <a:latin typeface="Noto Sans CJK SC"/>
              </a:defRPr>
            </a:pPr>
            <a:r>
              <a:t>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258568"/>
            <a:ext cx="1371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Noto Sans CJK SC"/>
              </a:defRPr>
            </a:pPr>
            <a:r>
              <a:t>57.961s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235915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9FB0C6"/>
                </a:solidFill>
                <a:latin typeface="Noto Sans CJK SC"/>
              </a:defRPr>
            </a:pPr>
            <a:r>
              <a:t>C100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2258568"/>
            <a:ext cx="1371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200" b="1">
                <a:solidFill>
                  <a:srgbClr val="FB7185"/>
                </a:solidFill>
                <a:latin typeface="Noto Sans CJK SC"/>
              </a:defRPr>
            </a:pPr>
            <a:r>
              <a:t>59.808s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3127248"/>
            <a:ext cx="20116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87171"/>
                </a:solidFill>
                <a:latin typeface="Noto Sans CJK SC"/>
              </a:defRPr>
            </a:pPr>
            <a:r>
              <a:t>Δ +1.847s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200400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4F7FB"/>
                </a:solidFill>
                <a:latin typeface="Noto Sans CJK SC"/>
              </a:defRPr>
            </a:pPr>
            <a:r>
              <a:t>95% CI [+1.087, +2.646]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5392" y="3931920"/>
            <a:ext cx="3273552" cy="310896"/>
          </a:xfrm>
          <a:prstGeom prst="round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3945635"/>
            <a:ext cx="3127248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24 harmful / 8 helpful schedules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572000"/>
            <a:ext cx="3886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4F7FB"/>
                </a:solidFill>
                <a:latin typeface="Noto Sans CJK SC"/>
              </a:defRPr>
            </a:pPr>
            <a:r>
              <a:t>已排除：natural SWE overlap 太稀疏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5010912"/>
            <a:ext cx="40690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9FB0C6"/>
                </a:solidFill>
                <a:latin typeface="Noto Sans CJK SC"/>
              </a:defRPr>
            </a:pPr>
            <a:r>
              <a:t>未排除：真实 contention 会改变 duration / arrival / eviction feedback。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Source: analysis/results/cachewise-swe-synthetic-c32-20260731/result.json. This is not a live concurrency experiment.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RESULT 4 · CROSS-CORPUS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TB aggregate 反转为正，但几乎由 hdfs-deployment 扛住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914400" cy="8229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9FB0C6"/>
                </a:solidFill>
                <a:latin typeface="Noto Sans CJK SC"/>
              </a:defRPr>
            </a:pPr>
            <a:r>
              <a:t>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481328"/>
            <a:ext cx="2963333" cy="66751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417320"/>
            <a:ext cx="960120" cy="8229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200" b="1">
                <a:solidFill>
                  <a:srgbClr val="F4F7FB"/>
                </a:solidFill>
                <a:latin typeface="Noto Sans CJK SC"/>
              </a:defRPr>
            </a:pPr>
            <a:r>
              <a:t>194.633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5999"/>
            <a:ext cx="914400" cy="8229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9FB0C6"/>
                </a:solidFill>
                <a:latin typeface="Noto Sans CJK SC"/>
              </a:defRPr>
            </a:pPr>
            <a:r>
              <a:t>C100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350008"/>
            <a:ext cx="1862569" cy="6675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285999"/>
            <a:ext cx="960120" cy="8229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200" b="1">
                <a:solidFill>
                  <a:srgbClr val="F4F7FB"/>
                </a:solidFill>
                <a:latin typeface="Noto Sans CJK SC"/>
              </a:defRPr>
            </a:pPr>
            <a:r>
              <a:t>122.334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45536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9FB0C6"/>
                </a:solidFill>
                <a:latin typeface="Noto Sans CJK SC"/>
              </a:defRPr>
            </a:pPr>
            <a:r>
              <a:t>↓ lower is better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730752"/>
            <a:ext cx="47091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65091" y="3493008"/>
            <a:ext cx="0" cy="475488"/>
          </a:xfrm>
          <a:prstGeom prst="line">
            <a:avLst/>
          </a:prstGeom>
          <a:ln w="17780">
            <a:solidFill>
              <a:srgbClr val="F4F7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3099" y="3730752"/>
            <a:ext cx="1163978" cy="0"/>
          </a:xfrm>
          <a:prstGeom prst="line">
            <a:avLst/>
          </a:prstGeom>
          <a:ln w="635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13099" y="3630168"/>
            <a:ext cx="0" cy="201168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77077" y="3630168"/>
            <a:ext cx="0" cy="201168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826728" y="3662172"/>
            <a:ext cx="137160" cy="137160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95344"/>
            <a:ext cx="4709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F7FB"/>
                </a:solidFill>
                <a:latin typeface="Noto Sans CJK SC"/>
              </a:defRPr>
            </a:pPr>
            <a:r>
              <a:t>C100 − tool regret 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46704"/>
            <a:ext cx="3250691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0">
                <a:solidFill>
                  <a:srgbClr val="34D399"/>
                </a:solidFill>
                <a:latin typeface="Noto Sans CJK SC"/>
              </a:defRPr>
            </a:pPr>
            <a:r>
              <a:t>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0812" y="3346704"/>
            <a:ext cx="14127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F87171"/>
                </a:solidFill>
                <a:latin typeface="Noto Sans CJK SC"/>
              </a:defRPr>
            </a:pPr>
            <a:r>
              <a:t>worse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599432"/>
            <a:ext cx="3520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  <a:latin typeface="Noto Sans CJK SC"/>
              </a:defRPr>
            </a:pPr>
            <a:r>
              <a:t>29 / 32 schedules improve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353312"/>
            <a:ext cx="5230368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28232" y="1600200"/>
            <a:ext cx="1920240" cy="310896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1613916"/>
            <a:ext cx="177393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POST-HOC SENSITIVITY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103120"/>
            <a:ext cx="2423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9FB0C6"/>
                </a:solidFill>
                <a:latin typeface="Noto Sans CJK SC"/>
              </a:defRPr>
            </a:pPr>
            <a:r>
              <a:t>remove hdfs-deployment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1984248"/>
            <a:ext cx="1828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F87171"/>
                </a:solidFill>
                <a:latin typeface="Noto Sans CJK SC"/>
              </a:defRPr>
            </a:pPr>
            <a:r>
              <a:t>+26.722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660904"/>
            <a:ext cx="4343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4F7FB"/>
                </a:solidFill>
                <a:latin typeface="Noto Sans CJK SC"/>
              </a:defRPr>
            </a:pPr>
            <a:r>
              <a:t>95% CI [+17.355, +37.789] · harmful 28/32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3611880"/>
            <a:ext cx="5230368" cy="22128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28232" y="3858768"/>
            <a:ext cx="1097280" cy="310896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4" y="3872483"/>
            <a:ext cx="95097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OBSERVED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343400"/>
            <a:ext cx="22860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4F7FB"/>
                </a:solidFill>
                <a:latin typeface="Liberation Mono"/>
              </a:defRPr>
            </a:pPr>
            <a:r>
              <a:t>hdfs-deployment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4325112"/>
            <a:ext cx="2103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Noto Sans CJK SC"/>
              </a:defRPr>
            </a:pPr>
            <a:r>
              <a:t>2 × ≈600s download exec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846320"/>
            <a:ext cx="44805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50" b="0">
                <a:solidFill>
                  <a:srgbClr val="9FB0C6"/>
                </a:solidFill>
                <a:latin typeface="Noto Sans CJK SC"/>
              </a:defRPr>
            </a:pPr>
            <a:r>
              <a:t>C100 从 command text + explicit timeout=600 识别长 survivor。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5321808"/>
            <a:ext cx="44988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B7185"/>
                </a:solidFill>
                <a:latin typeface="Noto Sans CJK SC"/>
              </a:defRPr>
            </a:pPr>
            <a:r>
              <a:t>C50 regret 113.224s &lt; C100 122.334s；但 C50 不是 primary，不能事后改选。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Source: analysis/results/cachewise-tb-synthetic-c32-20260731/result.json; hdfs sensitivity in research-directions-20260729.md.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RESULT 5 · EXACT-TIMEOUT LOTO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Timeout 只是 ceiling：task-stability gate 失败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5349240" cy="1874519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618488"/>
            <a:ext cx="1554480" cy="310896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32204"/>
            <a:ext cx="140817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AGGREGATE PASSES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57984"/>
            <a:ext cx="1737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Noto Sans CJK SC"/>
              </a:defRPr>
            </a:pPr>
            <a:r>
              <a:t>tool 194.633s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139696"/>
            <a:ext cx="457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9FB0C6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157984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Noto Sans CJK SC"/>
              </a:defRPr>
            </a:pPr>
            <a:r>
              <a:t>timeout 177.362s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5176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  <a:latin typeface="Noto Sans CJK SC"/>
              </a:defRPr>
            </a:pPr>
            <a:r>
              <a:t>Δ -17.271s · CI [−29.739, −4.296] · 20/32 helpful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93008"/>
            <a:ext cx="534924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3749039"/>
            <a:ext cx="1691640" cy="310896"/>
          </a:xfrm>
          <a:prstGeom prst="round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62755"/>
            <a:ext cx="154533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TASK STABILITY FAILS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97680"/>
            <a:ext cx="32004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Liberation Mono"/>
              </a:defRPr>
            </a:pPr>
            <a:r>
              <a:t>delete mixed-integer-programming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187952"/>
            <a:ext cx="1417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F87171"/>
                </a:solidFill>
                <a:latin typeface="Noto Sans CJK SC"/>
              </a:defRPr>
            </a:pPr>
            <a:r>
              <a:t>+4.012s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73752"/>
            <a:ext cx="45262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50" b="0">
                <a:solidFill>
                  <a:srgbClr val="9FB0C6"/>
                </a:solidFill>
                <a:latin typeface="Noto Sans CJK SC"/>
              </a:defRPr>
            </a:pPr>
            <a:r>
              <a:t>仅 13/32 schedules helpful · 99 个 task 全穷举，只有这一个翻转符号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353312"/>
            <a:ext cx="5074920" cy="4242816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37360"/>
            <a:ext cx="21488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Liberation Mono"/>
              </a:defRPr>
            </a:pPr>
            <a:r>
              <a:t>timeout = 300s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75120" y="2542032"/>
            <a:ext cx="4187952" cy="0"/>
          </a:xfrm>
          <a:prstGeom prst="line">
            <a:avLst/>
          </a:prstGeom>
          <a:ln w="381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41280" y="2258568"/>
            <a:ext cx="0" cy="594360"/>
          </a:xfrm>
          <a:prstGeom prst="line">
            <a:avLst/>
          </a:prstGeom>
          <a:ln w="381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738360" y="2907792"/>
            <a:ext cx="10058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Noto Sans CJK SC"/>
              </a:defRPr>
            </a:pPr>
            <a:r>
              <a:t>ceiling</a:t>
            </a:r>
          </a:p>
        </p:txBody>
      </p:sp>
      <p:sp>
        <p:nvSpPr>
          <p:cNvPr id="24" name="Oval 23"/>
          <p:cNvSpPr/>
          <p:nvPr/>
        </p:nvSpPr>
        <p:spPr>
          <a:xfrm>
            <a:off x="6903720" y="2414016"/>
            <a:ext cx="118872" cy="11887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3246120"/>
            <a:ext cx="868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60A5FA"/>
                </a:solidFill>
                <a:latin typeface="Noto Sans CJK SC"/>
              </a:defRPr>
            </a:pPr>
            <a:r>
              <a:t>0.1s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2414016"/>
            <a:ext cx="164592" cy="16459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208" y="3246120"/>
            <a:ext cx="868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2DD4BF"/>
                </a:solidFill>
                <a:latin typeface="Noto Sans CJK SC"/>
              </a:defRPr>
            </a:pPr>
            <a:r>
              <a:t>4s</a:t>
            </a:r>
          </a:p>
        </p:txBody>
      </p:sp>
      <p:sp>
        <p:nvSpPr>
          <p:cNvPr id="28" name="Oval 27"/>
          <p:cNvSpPr/>
          <p:nvPr/>
        </p:nvSpPr>
        <p:spPr>
          <a:xfrm>
            <a:off x="8641080" y="2414016"/>
            <a:ext cx="228600" cy="22860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3246120"/>
            <a:ext cx="868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A78BFA"/>
                </a:solidFill>
                <a:latin typeface="Noto Sans CJK SC"/>
              </a:defRPr>
            </a:pPr>
            <a:r>
              <a:t>90s</a:t>
            </a:r>
          </a:p>
        </p:txBody>
      </p:sp>
      <p:sp>
        <p:nvSpPr>
          <p:cNvPr id="30" name="Oval 29"/>
          <p:cNvSpPr/>
          <p:nvPr/>
        </p:nvSpPr>
        <p:spPr>
          <a:xfrm>
            <a:off x="10131552" y="2414016"/>
            <a:ext cx="256032" cy="256032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3246120"/>
            <a:ext cx="868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B7185"/>
                </a:solidFill>
                <a:latin typeface="Noto Sans CJK SC"/>
              </a:defRPr>
            </a:pPr>
            <a:r>
              <a:t>300.011s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803904"/>
            <a:ext cx="4251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同一个 timeout 值覆盖多个数量级的实际 work。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4370832"/>
            <a:ext cx="1097280" cy="310896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2552" y="4384548"/>
            <a:ext cx="95097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0B1020"/>
                </a:solidFill>
                <a:latin typeface="Noto Sans CJK SC"/>
              </a:defRPr>
            </a:pPr>
            <a:r>
              <a:t>OBSERVED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846320"/>
            <a:ext cx="4224528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9FB0C6"/>
                </a:solidFill>
                <a:latin typeface="Noto Sans CJK SC"/>
              </a:defRPr>
            </a:pPr>
            <a:r>
              <a:t>600s signature 提供最大 aggregate benefit；</a:t>
            </a:r>
            <a:br/>
            <a:r>
              <a:t>300s signature 若没有这个跑满 300s 的 solver call，则净有害。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Source: analysis/results/cachewise-tb-timeout-stability-20260731/result.json; post-hoc attribution in research-directions-20260729.md.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Noto Sans CJK SC"/>
              </a:defRPr>
            </a:pPr>
            <a:r>
              <a:t>IMPLICATIONS · TAKEAWAYS ·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10642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4F7FB"/>
                </a:solidFill>
                <a:latin typeface="Noto Sans CJK SC"/>
              </a:defRPr>
            </a:pPr>
            <a:r>
              <a:t>结论：停止 tuning；下一次证据必须跨过 task 与真实压力两道门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42415"/>
            <a:ext cx="11091672" cy="0"/>
          </a:xfrm>
          <a:prstGeom prst="line">
            <a:avLst/>
          </a:prstGeom>
          <a:ln w="1524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201168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3547872" cy="166420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0200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Noto Sans CJK SC"/>
              </a:defRPr>
            </a:pPr>
            <a:r>
              <a:t>① insight survives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312724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50" b="1">
                <a:solidFill>
                  <a:srgbClr val="F4F7FB"/>
                </a:solidFill>
                <a:latin typeface="Noto Sans CJK SC"/>
              </a:defRPr>
            </a:pPr>
            <a:r>
              <a:t>相对 next-reuse ordering 是正确 systems objective；tool metadata 确实含 tail signal。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53312"/>
            <a:ext cx="3547872" cy="166420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7" y="1600200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Noto Sans CJK SC"/>
              </a:defRPr>
            </a:pPr>
            <a:r>
              <a:t>② estimator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1993392"/>
            <a:ext cx="312724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50" b="1">
                <a:solidFill>
                  <a:srgbClr val="F4F7FB"/>
                </a:solidFill>
                <a:latin typeface="Noto Sans CJK SC"/>
              </a:defRPr>
            </a:pPr>
            <a:r>
              <a:t>whole-args、progress、synthetic SWE、exact timeout 都未通过稳定 gate。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353312"/>
            <a:ext cx="3547872" cy="166420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00200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Noto Sans CJK SC"/>
              </a:defRPr>
            </a:pPr>
            <a:r>
              <a:t>③ scope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993392"/>
            <a:ext cx="312724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50" b="1">
                <a:solidFill>
                  <a:srgbClr val="F4F7FB"/>
                </a:solidFill>
                <a:latin typeface="Noto Sans CJK SC"/>
              </a:defRPr>
            </a:pPr>
            <a:r>
              <a:t>offline regret 不是 eviction/JCT；TB aggregate pass 也不能覆盖 single-task fragility。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Noto Sans CJK SC"/>
              </a:defRPr>
            </a:pPr>
            <a:r>
              <a:t>NEXT EVIDENCE RUNG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30752"/>
            <a:ext cx="2487168" cy="1143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950208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Noto Sans CJK SC"/>
              </a:defRPr>
            </a:pPr>
            <a:r>
              <a:t>freeze current NO-GO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25112"/>
            <a:ext cx="2194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0">
                <a:solidFill>
                  <a:srgbClr val="9FB0C6"/>
                </a:solidFill>
                <a:latin typeface="Noto Sans CJK SC"/>
              </a:defRPr>
            </a:pPr>
            <a:r>
              <a:t>no post-hoc clause/text rescue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096512"/>
            <a:ext cx="320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730752"/>
            <a:ext cx="2487168" cy="1143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3950208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  <a:latin typeface="Noto Sans CJK SC"/>
              </a:defRPr>
            </a:pPr>
            <a:r>
              <a:t>new independent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4325112"/>
            <a:ext cx="2194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0">
                <a:solidFill>
                  <a:srgbClr val="9FB0C6"/>
                </a:solidFill>
                <a:latin typeface="Noto Sans CJK SC"/>
              </a:defRPr>
            </a:pPr>
            <a:r>
              <a:t>task-grouped gate; environment-scale hypothesis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1" y="4096512"/>
            <a:ext cx="320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730752"/>
            <a:ext cx="2487168" cy="1143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950208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Noto Sans CJK SC"/>
              </a:defRPr>
            </a:pPr>
            <a:r>
              <a:t>task-stable ranker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325112"/>
            <a:ext cx="2194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0">
                <a:solidFill>
                  <a:srgbClr val="9FB0C6"/>
                </a:solidFill>
                <a:latin typeface="Noto Sans CJK SC"/>
              </a:defRPr>
            </a:pPr>
            <a:r>
              <a:t>charge inference + scheduling overhead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4096512"/>
            <a:ext cx="320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07424" y="3730752"/>
            <a:ext cx="2487168" cy="1143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6" y="3950208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Noto Sans CJK SC"/>
              </a:defRPr>
            </a:pPr>
            <a:r>
              <a:t>live KV pressure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4325112"/>
            <a:ext cx="2194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0">
                <a:solidFill>
                  <a:srgbClr val="9FB0C6"/>
                </a:solidFill>
                <a:latin typeface="Noto Sans CJK SC"/>
              </a:defRPr>
            </a:pPr>
            <a:r>
              <a:t>30–50 sessions; actual evictions + JCT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927080" cy="621792"/>
          </a:xfrm>
          <a:prstGeom prst="roundRect">
            <a:avLst/>
          </a:prstGeom>
          <a:solidFill>
            <a:srgbClr val="19243A"/>
          </a:solidFill>
          <a:ln w="12700">
            <a:solidFill>
              <a:srgbClr val="19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449824"/>
            <a:ext cx="12344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Noto Sans CJK SC"/>
              </a:defRPr>
            </a:pPr>
            <a:r>
              <a:t>最终 takeaway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2848" y="5376672"/>
            <a:ext cx="8915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“use tool args” 不是方法贡献；可发表的问题是：什么 inference-time state 能跨 task 稳定改善一个真实、计费完整的 KV decision？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19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19" b="0">
                <a:solidFill>
                  <a:srgbClr val="64748B"/>
                </a:solidFill>
                <a:latin typeface="Noto Sans CJK SC"/>
              </a:defRPr>
            </a:pPr>
            <a:r>
              <a:t>Paper: arXiv:2606.16824v1 · Local source index: analysis/offline/related-work.md and analysis/development/research-directions-20260729.md.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CacheWise reproduction and failure analysis</dc:title>
  <dc:subject>Group meeting, 15–20 minutes</dc:subject>
  <dc:creator>agent-sched-bench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