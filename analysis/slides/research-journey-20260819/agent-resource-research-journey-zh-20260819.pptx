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30352"/>
            <a:ext cx="1691640" cy="310896"/>
          </a:xfrm>
          <a:prstGeom prst="roundRect">
            <a:avLst/>
          </a:prstGeom>
          <a:solidFill>
            <a:srgbClr val="32D5C4"/>
          </a:solidFill>
          <a:ln w="12700">
            <a:solidFill>
              <a:srgbClr val="32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1600200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defRPr sz="1019" b="1">
                <a:solidFill>
                  <a:srgbClr val="09111F"/>
                </a:solidFill>
                <a:latin typeface="Noto Sans CJK SC"/>
              </a:defRPr>
            </a:pPr>
            <a:r>
              <a:t>组会版 · 15–20 分钟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8046720" cy="1417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3100" b="1">
                <a:solidFill>
                  <a:srgbClr val="F4F7FB"/>
                </a:solidFill>
                <a:latin typeface="Noto Sans CJK SC"/>
              </a:defRPr>
            </a:pPr>
            <a:r>
              <a:t>从“猜工具多久”</a:t>
            </a:r>
            <a:br/>
            <a:r>
              <a:t>到“让 CPU 与 GPU 协同”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70048"/>
            <a:ext cx="8321040" cy="5943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700" b="0">
                <a:solidFill>
                  <a:srgbClr val="A7B6CA"/>
                </a:solidFill>
                <a:latin typeface="Noto Sans CJK SC"/>
              </a:defRPr>
            </a:pPr>
            <a:r>
              <a:t>一条由失败结果推动的研究路线：预测什么、为什么失败、怎样变成真正有用的动作</a:t>
            </a:r>
          </a:p>
        </p:txBody>
      </p:sp>
      <p:sp>
        <p:nvSpPr>
          <p:cNvPr id="6" name="Oval 5"/>
          <p:cNvSpPr/>
          <p:nvPr/>
        </p:nvSpPr>
        <p:spPr>
          <a:xfrm>
            <a:off x="749808" y="4626864"/>
            <a:ext cx="292608" cy="292608"/>
          </a:xfrm>
          <a:prstGeom prst="ellipse">
            <a:avLst/>
          </a:prstGeom>
          <a:solidFill>
            <a:srgbClr val="FF7A85"/>
          </a:solidFill>
          <a:ln>
            <a:solidFill>
              <a:srgbClr val="FF7A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3" y="5047488"/>
            <a:ext cx="150876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00" b="1">
                <a:solidFill>
                  <a:srgbClr val="FF7A85"/>
                </a:solidFill>
                <a:latin typeface="Noto Sans CJK SC"/>
              </a:defRPr>
            </a:pPr>
            <a:r>
              <a:t>文本相似度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335024" y="4681728"/>
            <a:ext cx="1572768" cy="182880"/>
          </a:xfrm>
          <a:prstGeom prst="rightArrow">
            <a:avLst/>
          </a:prstGeom>
          <a:solidFill>
            <a:srgbClr val="17263D"/>
          </a:solidFill>
          <a:ln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447288" y="4626864"/>
            <a:ext cx="292608" cy="292608"/>
          </a:xfrm>
          <a:prstGeom prst="ellipse">
            <a:avLst/>
          </a:prstGeom>
          <a:solidFill>
            <a:srgbClr val="F4C75B"/>
          </a:solidFill>
          <a:ln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9544" y="5047488"/>
            <a:ext cx="150876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00" b="1">
                <a:solidFill>
                  <a:srgbClr val="F4C75B"/>
                </a:solidFill>
                <a:latin typeface="Noto Sans CJK SC"/>
              </a:defRPr>
            </a:pPr>
            <a:r>
              <a:t>真实工作量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32504" y="4681728"/>
            <a:ext cx="1572768" cy="182880"/>
          </a:xfrm>
          <a:prstGeom prst="rightArrow">
            <a:avLst/>
          </a:prstGeom>
          <a:solidFill>
            <a:srgbClr val="17263D"/>
          </a:solidFill>
          <a:ln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44768" y="4626864"/>
            <a:ext cx="292608" cy="292608"/>
          </a:xfrm>
          <a:prstGeom prst="ellipse">
            <a:avLst/>
          </a:prstGeom>
          <a:solidFill>
            <a:srgbClr val="62A8FF"/>
          </a:solidFill>
          <a:ln>
            <a:solidFill>
              <a:srgbClr val="6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07024" y="5047488"/>
            <a:ext cx="150876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00" b="1">
                <a:solidFill>
                  <a:srgbClr val="62A8FF"/>
                </a:solidFill>
                <a:latin typeface="Noto Sans CJK SC"/>
              </a:defRPr>
            </a:pPr>
            <a:r>
              <a:t>资源预测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729984" y="4681728"/>
            <a:ext cx="1572768" cy="182880"/>
          </a:xfrm>
          <a:prstGeom prst="rightArrow">
            <a:avLst/>
          </a:prstGeom>
          <a:solidFill>
            <a:srgbClr val="17263D"/>
          </a:solidFill>
          <a:ln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42248" y="4626864"/>
            <a:ext cx="292608" cy="292608"/>
          </a:xfrm>
          <a:prstGeom prst="ellipse">
            <a:avLst/>
          </a:prstGeom>
          <a:solidFill>
            <a:srgbClr val="40D39C"/>
          </a:solidFill>
          <a:ln>
            <a:solidFill>
              <a:srgbClr val="40D3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04504" y="5047488"/>
            <a:ext cx="150876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00" b="1">
                <a:solidFill>
                  <a:srgbClr val="40D39C"/>
                </a:solidFill>
                <a:latin typeface="Noto Sans CJK SC"/>
              </a:defRPr>
            </a:pPr>
            <a:r>
              <a:t>调度动作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6035040"/>
            <a:ext cx="160020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1100" b="0">
                <a:solidFill>
                  <a:srgbClr val="677990"/>
                </a:solidFill>
                <a:latin typeface="Noto Sans CJK SC"/>
              </a:defRPr>
            </a:pPr>
            <a:r>
              <a:t>2026-08-19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64008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50" b="1">
                <a:solidFill>
                  <a:srgbClr val="32D5C4"/>
                </a:solidFill>
                <a:latin typeface="Noto Sans CJK SC"/>
              </a:defRPr>
            </a:pPr>
            <a:r>
              <a:t>先建立共同直觉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09728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600" b="1">
                <a:solidFill>
                  <a:srgbClr val="F4F7FB"/>
                </a:solidFill>
                <a:latin typeface="Noto Sans CJK SC"/>
              </a:defRPr>
            </a:pPr>
            <a:r>
              <a:t>Agent 不是一直在用 GPU：它在“思考”和“做事”之间切换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51560"/>
            <a:ext cx="11064240" cy="0"/>
          </a:xfrm>
          <a:prstGeom prst="line">
            <a:avLst/>
          </a:prstGeom>
          <a:ln w="1270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20272" y="201168"/>
            <a:ext cx="320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950" b="1">
                <a:solidFill>
                  <a:srgbClr val="677990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56032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A7B6CA"/>
                </a:solidFill>
                <a:latin typeface="Noto Sans CJK SC"/>
              </a:defRPr>
            </a:pPr>
            <a:r>
              <a:t>一个任务的真实时间线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1828800" cy="658368"/>
          </a:xfrm>
          <a:prstGeom prst="roundRect">
            <a:avLst/>
          </a:prstGeom>
          <a:solidFill>
            <a:srgbClr val="62A8FF"/>
          </a:solidFill>
          <a:ln w="12700">
            <a:solidFill>
              <a:srgbClr val="6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30552"/>
            <a:ext cx="17373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50" b="1">
                <a:solidFill>
                  <a:srgbClr val="09111F"/>
                </a:solidFill>
                <a:latin typeface="Noto Sans CJK SC"/>
              </a:defRPr>
            </a:pPr>
            <a:r>
              <a:t>GPU：生成计划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965960"/>
            <a:ext cx="2468880" cy="658368"/>
          </a:xfrm>
          <a:prstGeom prst="roundRect">
            <a:avLst/>
          </a:prstGeom>
          <a:solidFill>
            <a:srgbClr val="F4C75B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2130552"/>
            <a:ext cx="23774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50" b="1">
                <a:solidFill>
                  <a:srgbClr val="09111F"/>
                </a:solidFill>
                <a:latin typeface="Noto Sans CJK SC"/>
              </a:defRPr>
            </a:pPr>
            <a:r>
              <a:t>CPU：跑测试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1965960"/>
            <a:ext cx="1645920" cy="658368"/>
          </a:xfrm>
          <a:prstGeom prst="roundRect">
            <a:avLst/>
          </a:prstGeom>
          <a:solidFill>
            <a:srgbClr val="62A8FF"/>
          </a:solidFill>
          <a:ln w="12700">
            <a:solidFill>
              <a:srgbClr val="6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59" y="2130552"/>
            <a:ext cx="15544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50" b="1">
                <a:solidFill>
                  <a:srgbClr val="09111F"/>
                </a:solidFill>
                <a:latin typeface="Noto Sans CJK SC"/>
              </a:defRPr>
            </a:pPr>
            <a:r>
              <a:t>GPU：读结果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1965960"/>
            <a:ext cx="2194560" cy="658368"/>
          </a:xfrm>
          <a:prstGeom prst="roundRect">
            <a:avLst/>
          </a:prstGeom>
          <a:solidFill>
            <a:srgbClr val="F4C75B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96328" y="2130552"/>
            <a:ext cx="210312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50" b="1">
                <a:solidFill>
                  <a:srgbClr val="09111F"/>
                </a:solidFill>
                <a:latin typeface="Noto Sans CJK SC"/>
              </a:defRPr>
            </a:pPr>
            <a:r>
              <a:t>CPU：改代码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91472" y="1965960"/>
            <a:ext cx="1828800" cy="658368"/>
          </a:xfrm>
          <a:prstGeom prst="roundRect">
            <a:avLst/>
          </a:prstGeom>
          <a:solidFill>
            <a:srgbClr val="62A8FF"/>
          </a:solidFill>
          <a:ln w="12700">
            <a:solidFill>
              <a:srgbClr val="6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37192" y="2130552"/>
            <a:ext cx="17373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50" b="1">
                <a:solidFill>
                  <a:srgbClr val="09111F"/>
                </a:solidFill>
                <a:latin typeface="Noto Sans CJK SC"/>
              </a:defRPr>
            </a:pPr>
            <a:r>
              <a:t>GPU：继续推理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2907792"/>
            <a:ext cx="10469880" cy="0"/>
          </a:xfrm>
          <a:prstGeom prst="line">
            <a:avLst/>
          </a:prstGeom>
          <a:ln w="19050">
            <a:solidFill>
              <a:srgbClr val="6779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15600" y="2971800"/>
            <a:ext cx="82296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1000" b="0">
                <a:solidFill>
                  <a:srgbClr val="677990"/>
                </a:solidFill>
                <a:latin typeface="Noto Sans CJK SC"/>
              </a:defRPr>
            </a:pPr>
            <a:r>
              <a:t>时间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401568"/>
            <a:ext cx="3401568" cy="1581912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50392" y="3566160"/>
            <a:ext cx="0" cy="1252728"/>
          </a:xfrm>
          <a:prstGeom prst="line">
            <a:avLst/>
          </a:prstGeom>
          <a:ln w="44450">
            <a:solidFill>
              <a:srgbClr val="40D3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24128" y="3547872"/>
            <a:ext cx="29443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40D39C"/>
                </a:solidFill>
                <a:latin typeface="Noto Sans CJK SC"/>
              </a:defRPr>
            </a:pPr>
            <a:r>
              <a:t>机会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3995928"/>
            <a:ext cx="2944368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00" b="0">
                <a:solidFill>
                  <a:srgbClr val="A7B6CA"/>
                </a:solidFill>
                <a:latin typeface="Noto Sans CJK SC"/>
              </a:defRPr>
            </a:pPr>
            <a:r>
              <a:t>工具运行时，GPU 可能空出来，可以服务别的任务。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401568"/>
            <a:ext cx="3401568" cy="1581912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4526280" y="3566160"/>
            <a:ext cx="0" cy="1252728"/>
          </a:xfrm>
          <a:prstGeom prst="line">
            <a:avLst/>
          </a:prstGeom>
          <a:ln w="44450">
            <a:solidFill>
              <a:srgbClr val="FF7A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700016" y="3547872"/>
            <a:ext cx="29443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FF7A85"/>
                </a:solidFill>
                <a:latin typeface="Noto Sans CJK SC"/>
              </a:defRPr>
            </a:pPr>
            <a:r>
              <a:t>风险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0016" y="3995928"/>
            <a:ext cx="2944368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00" b="0">
                <a:solidFill>
                  <a:srgbClr val="A7B6CA"/>
                </a:solidFill>
                <a:latin typeface="Noto Sans CJK SC"/>
              </a:defRPr>
            </a:pPr>
            <a:r>
              <a:t>工具突然结束，多批请求一起返回，首字延迟可能恶化。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5008" y="3401568"/>
            <a:ext cx="3401568" cy="1581912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202168" y="3566160"/>
            <a:ext cx="0" cy="1252728"/>
          </a:xfrm>
          <a:prstGeom prst="line">
            <a:avLst/>
          </a:prstGeom>
          <a:ln w="44450">
            <a:solidFill>
              <a:srgbClr val="32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75904" y="3547872"/>
            <a:ext cx="29443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32D5C4"/>
                </a:solidFill>
                <a:latin typeface="Noto Sans CJK SC"/>
              </a:defRPr>
            </a:pPr>
            <a:r>
              <a:t>核心问题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5904" y="3995928"/>
            <a:ext cx="2944368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00" b="0">
                <a:solidFill>
                  <a:srgbClr val="A7B6CA"/>
                </a:solidFill>
                <a:latin typeface="Noto Sans CJK SC"/>
              </a:defRPr>
            </a:pPr>
            <a:r>
              <a:t>怎样知道“还有多少工作”，并把这个信息变成安全动作？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733288"/>
            <a:ext cx="10881360" cy="530352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5879592"/>
            <a:ext cx="1325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50" b="1">
                <a:solidFill>
                  <a:srgbClr val="F4C75B"/>
                </a:solidFill>
                <a:latin typeface="Noto Sans CJK SC"/>
              </a:defRPr>
            </a:pPr>
            <a:r>
              <a:t>这一阶段学到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66543" y="5833872"/>
            <a:ext cx="9144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20" b="1">
                <a:solidFill>
                  <a:srgbClr val="F4F7FB"/>
                </a:solidFill>
                <a:latin typeface="Noto Sans CJK SC"/>
              </a:defRPr>
            </a:pPr>
            <a:r>
              <a:t>研究对象应是完整任务的交替阶段，而不是孤立的一条 LLM 请求或 shell 命令。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6455664"/>
            <a:ext cx="11064240" cy="0"/>
          </a:xfrm>
          <a:prstGeom prst="line">
            <a:avLst/>
          </a:prstGeom>
          <a:ln w="1016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492240"/>
            <a:ext cx="10972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780" b="0">
                <a:solidFill>
                  <a:srgbClr val="677990"/>
                </a:solidFill>
                <a:latin typeface="Noto Sans CJK SC"/>
              </a:defRPr>
            </a:pPr>
            <a:r>
              <a:t>概念口径：analysis/ROADMAP.md；KV = GPU 中保存的对话中间状态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64008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50" b="1">
                <a:solidFill>
                  <a:srgbClr val="32D5C4"/>
                </a:solidFill>
                <a:latin typeface="Noto Sans CJK SC"/>
              </a:defRPr>
            </a:pPr>
            <a:r>
              <a:t>数据基础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09728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600" b="1">
                <a:solidFill>
                  <a:srgbClr val="F4F7FB"/>
                </a:solidFill>
                <a:latin typeface="Noto Sans CJK SC"/>
              </a:defRPr>
            </a:pPr>
            <a:r>
              <a:t>我们先补齐了公开数据缺少的东西：原始命令与子命令级资源数据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51560"/>
            <a:ext cx="11064240" cy="0"/>
          </a:xfrm>
          <a:prstGeom prst="line">
            <a:avLst/>
          </a:prstGeom>
          <a:ln w="1270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20272" y="201168"/>
            <a:ext cx="320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950" b="1">
                <a:solidFill>
                  <a:srgbClr val="677990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2651760" cy="192024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22960" y="1490472"/>
            <a:ext cx="0" cy="1591055"/>
          </a:xfrm>
          <a:prstGeom prst="line">
            <a:avLst/>
          </a:prstGeom>
          <a:ln w="44450">
            <a:solidFill>
              <a:srgbClr val="32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6" y="1472184"/>
            <a:ext cx="21945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32D5C4"/>
                </a:solidFill>
                <a:latin typeface="Noto Sans CJK SC"/>
              </a:defRPr>
            </a:pPr>
            <a:r>
              <a:t>SQLGlot · 200 tasks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" y="1920240"/>
            <a:ext cx="2194560" cy="12070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00" b="0">
                <a:solidFill>
                  <a:srgbClr val="A7B6CA"/>
                </a:solidFill>
                <a:latin typeface="Noto Sans CJK SC"/>
              </a:defRPr>
            </a:pPr>
            <a:r>
              <a:t>同一仓库、任务相似</a:t>
            </a:r>
            <a:br/>
            <a:r>
              <a:t>适合学习重复命令与测试阶段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1325880"/>
            <a:ext cx="2651760" cy="192024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3639312" y="1490472"/>
            <a:ext cx="0" cy="1591055"/>
          </a:xfrm>
          <a:prstGeom prst="line">
            <a:avLst/>
          </a:prstGeom>
          <a:ln w="44450">
            <a:solidFill>
              <a:srgbClr val="B6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813048" y="1472184"/>
            <a:ext cx="21945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B69BFF"/>
                </a:solidFill>
                <a:latin typeface="Noto Sans CJK SC"/>
              </a:defRPr>
            </a:pPr>
            <a:r>
              <a:t>PennyLane · 76 tasks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13048" y="1920240"/>
            <a:ext cx="2194560" cy="12070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00" b="0">
                <a:solidFill>
                  <a:srgbClr val="A7B6CA"/>
                </a:solidFill>
                <a:latin typeface="Noto Sans CJK SC"/>
              </a:defRPr>
            </a:pPr>
            <a:r>
              <a:t>同一仓库、负载更高</a:t>
            </a:r>
            <a:br/>
            <a:r>
              <a:t>含有效子命令级内核计数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4" y="1325880"/>
            <a:ext cx="2651760" cy="192024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455664" y="1490472"/>
            <a:ext cx="0" cy="1591055"/>
          </a:xfrm>
          <a:prstGeom prst="line">
            <a:avLst/>
          </a:prstGeom>
          <a:ln w="44450">
            <a:solidFill>
              <a:srgbClr val="62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629400" y="1472184"/>
            <a:ext cx="21945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62A8FF"/>
                </a:solidFill>
                <a:latin typeface="Noto Sans CJK SC"/>
              </a:defRPr>
            </a:pPr>
            <a:r>
              <a:t>SWE · 377 tasks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1920240"/>
            <a:ext cx="2194560" cy="12070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00" b="0">
                <a:solidFill>
                  <a:srgbClr val="A7B6CA"/>
                </a:solidFill>
                <a:latin typeface="Noto Sans CJK SC"/>
              </a:defRPr>
            </a:pPr>
            <a:r>
              <a:t>跨 205+ 仓库</a:t>
            </a:r>
            <a:br/>
            <a:r>
              <a:t>适合验证广度，不适合假装同仓库复用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34856" y="1325880"/>
            <a:ext cx="2377440" cy="192024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9272016" y="1490472"/>
            <a:ext cx="0" cy="1591055"/>
          </a:xfrm>
          <a:prstGeom prst="line">
            <a:avLst/>
          </a:prstGeom>
          <a:ln w="44450">
            <a:solidFill>
              <a:srgbClr val="F4C7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45752" y="1472184"/>
            <a:ext cx="19202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F4C75B"/>
                </a:solidFill>
                <a:latin typeface="Noto Sans CJK SC"/>
              </a:defRPr>
            </a:pPr>
            <a:r>
              <a:t>TB · 239 tasks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5752" y="1920240"/>
            <a:ext cx="1920240" cy="12070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00" b="0">
                <a:solidFill>
                  <a:srgbClr val="A7B6CA"/>
                </a:solidFill>
                <a:latin typeface="Noto Sans CJK SC"/>
              </a:defRPr>
            </a:pPr>
            <a:r>
              <a:t>工具更杂</a:t>
            </a:r>
            <a:br/>
            <a:r>
              <a:t>适合看分布，不等于高并发实机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611880"/>
            <a:ext cx="274320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F4F7FB"/>
                </a:solidFill>
                <a:latin typeface="Noto Sans CJK SC"/>
              </a:defRPr>
            </a:pPr>
            <a:r>
              <a:t>每条执行命令保留什么？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" y="4114800"/>
            <a:ext cx="2057400" cy="658368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32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4279392"/>
            <a:ext cx="19659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30" b="1">
                <a:solidFill>
                  <a:srgbClr val="32D5C4"/>
                </a:solidFill>
                <a:latin typeface="Noto Sans CJK SC"/>
              </a:defRPr>
            </a:pPr>
            <a:r>
              <a:t>原始工具参数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898648" y="4361688"/>
            <a:ext cx="219456" cy="146304"/>
          </a:xfrm>
          <a:prstGeom prst="rightArrow">
            <a:avLst/>
          </a:prstGeom>
          <a:solidFill>
            <a:srgbClr val="677990"/>
          </a:solidFill>
          <a:ln>
            <a:solidFill>
              <a:srgbClr val="677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072384" y="4114800"/>
            <a:ext cx="1965960" cy="658368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6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18103" y="4279392"/>
            <a:ext cx="1874519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30" b="1">
                <a:solidFill>
                  <a:srgbClr val="62A8FF"/>
                </a:solidFill>
                <a:latin typeface="Noto Sans CJK SC"/>
              </a:defRPr>
            </a:pPr>
            <a:r>
              <a:t>shell 子命令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111496" y="4361688"/>
            <a:ext cx="219456" cy="146304"/>
          </a:xfrm>
          <a:prstGeom prst="rightArrow">
            <a:avLst/>
          </a:prstGeom>
          <a:solidFill>
            <a:srgbClr val="677990"/>
          </a:solidFill>
          <a:ln>
            <a:solidFill>
              <a:srgbClr val="677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85232" y="4114800"/>
            <a:ext cx="2331720" cy="658368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B6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30952" y="4279392"/>
            <a:ext cx="2240279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30" b="1">
                <a:solidFill>
                  <a:srgbClr val="B69BFF"/>
                </a:solidFill>
                <a:latin typeface="Noto Sans CJK SC"/>
              </a:defRPr>
            </a:pPr>
            <a:r>
              <a:t>完整命令 ↔ 子命令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690104" y="4361688"/>
            <a:ext cx="219456" cy="146304"/>
          </a:xfrm>
          <a:prstGeom prst="rightArrow">
            <a:avLst/>
          </a:prstGeom>
          <a:solidFill>
            <a:srgbClr val="677990"/>
          </a:solidFill>
          <a:ln>
            <a:solidFill>
              <a:srgbClr val="677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863840" y="4114800"/>
            <a:ext cx="2880360" cy="658368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40D3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279392"/>
            <a:ext cx="27889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30" b="1">
                <a:solidFill>
                  <a:srgbClr val="40D39C"/>
                </a:solidFill>
                <a:latin typeface="Noto Sans CJK SC"/>
              </a:defRPr>
            </a:pPr>
            <a:r>
              <a:t>CPU / 内存 / 读写 / 时长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33288"/>
            <a:ext cx="10881360" cy="530352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" y="5879592"/>
            <a:ext cx="1325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50" b="1">
                <a:solidFill>
                  <a:srgbClr val="F4C75B"/>
                </a:solidFill>
                <a:latin typeface="Noto Sans CJK SC"/>
              </a:defRPr>
            </a:pPr>
            <a:r>
              <a:t>这一阶段学到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66543" y="5833872"/>
            <a:ext cx="9144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20" b="1">
                <a:solidFill>
                  <a:srgbClr val="F4F7FB"/>
                </a:solidFill>
                <a:latin typeface="Noto Sans CJK SC"/>
              </a:defRPr>
            </a:pPr>
            <a:r>
              <a:t>这批 trace 的价值不是“更多行”，而是能把一句 shell 命令拆成可解释的真实工作。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66928" y="6455664"/>
            <a:ext cx="11064240" cy="0"/>
          </a:xfrm>
          <a:prstGeom prst="line">
            <a:avLst/>
          </a:prstGeom>
          <a:ln w="1016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6928" y="6492240"/>
            <a:ext cx="10972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780" b="0">
                <a:solidFill>
                  <a:srgbClr val="677990"/>
                </a:solidFill>
                <a:latin typeface="Noto Sans CJK SC"/>
              </a:defRPr>
            </a:pPr>
            <a:r>
              <a:t>证据：tool-resource-canonical-objective.md §6–8；这些数据都已用于开发，不是最终独立验证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64008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50" b="1">
                <a:solidFill>
                  <a:srgbClr val="32D5C4"/>
                </a:solidFill>
                <a:latin typeface="Noto Sans CJK SC"/>
              </a:defRPr>
            </a:pPr>
            <a:r>
              <a:t>从论文复现开始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09728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600" b="1">
                <a:solidFill>
                  <a:srgbClr val="F4F7FB"/>
                </a:solidFill>
                <a:latin typeface="Noto Sans CJK SC"/>
              </a:defRPr>
            </a:pPr>
            <a:r>
              <a:t>阶段 1：CacheWise 的整段参数相似度，在我们的 SWE 上反而更差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51560"/>
            <a:ext cx="11064240" cy="0"/>
          </a:xfrm>
          <a:prstGeom prst="line">
            <a:avLst/>
          </a:prstGeom>
          <a:ln w="1270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20272" y="201168"/>
            <a:ext cx="320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950" b="1">
                <a:solidFill>
                  <a:srgbClr val="677990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353312"/>
            <a:ext cx="219456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F4F7FB"/>
                </a:solidFill>
                <a:latin typeface="Noto Sans CJK SC"/>
              </a:defRPr>
            </a:pPr>
            <a:r>
              <a:t>CacheWise 的直觉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746504"/>
            <a:ext cx="48006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50" b="0">
                <a:solidFill>
                  <a:srgbClr val="A7B6CA"/>
                </a:solidFill>
                <a:latin typeface="Noto Sans CJK SC"/>
              </a:defRPr>
            </a:pPr>
            <a:r>
              <a:t>把完整工具参数转成文本向量 → 聚类 → 用同类历史估计工具还要多久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46320" y="1856231"/>
            <a:ext cx="566928" cy="228600"/>
          </a:xfrm>
          <a:prstGeom prst="rightArrow">
            <a:avLst/>
          </a:prstGeom>
          <a:solidFill>
            <a:srgbClr val="32D5C4"/>
          </a:solidFill>
          <a:ln>
            <a:solidFill>
              <a:srgbClr val="32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06440" y="1353312"/>
            <a:ext cx="29260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F4F7FB"/>
                </a:solidFill>
                <a:latin typeface="Noto Sans CJK SC"/>
              </a:defRPr>
            </a:pPr>
            <a:r>
              <a:t>我们的结果：越低越好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819656"/>
            <a:ext cx="15087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30" b="0">
                <a:solidFill>
                  <a:srgbClr val="A7B6CA"/>
                </a:solidFill>
                <a:latin typeface="Noto Sans CJK SC"/>
              </a:defRPr>
            </a:pPr>
            <a:r>
              <a:t>工具名历史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847088"/>
            <a:ext cx="2788920" cy="228600"/>
          </a:xfrm>
          <a:prstGeom prst="rect">
            <a:avLst/>
          </a:prstGeom>
          <a:solidFill>
            <a:srgbClr val="17263D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06640" y="1847088"/>
            <a:ext cx="1450238" cy="228600"/>
          </a:xfrm>
          <a:prstGeom prst="rect">
            <a:avLst/>
          </a:prstGeom>
          <a:solidFill>
            <a:srgbClr val="40D39C"/>
          </a:solidFill>
          <a:ln w="12700">
            <a:solidFill>
              <a:srgbClr val="40D3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05288" y="1801368"/>
            <a:ext cx="658368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40D39C"/>
                </a:solidFill>
                <a:latin typeface="Noto Sans CJK SC"/>
              </a:defRPr>
            </a:pPr>
            <a:r>
              <a:t>0.780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322576"/>
            <a:ext cx="15087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30" b="0">
                <a:solidFill>
                  <a:srgbClr val="A7B6CA"/>
                </a:solidFill>
                <a:latin typeface="Noto Sans CJK SC"/>
              </a:defRPr>
            </a:pPr>
            <a:r>
              <a:t>C20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350008"/>
            <a:ext cx="2788920" cy="228600"/>
          </a:xfrm>
          <a:prstGeom prst="rect">
            <a:avLst/>
          </a:prstGeom>
          <a:solidFill>
            <a:srgbClr val="17263D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06640" y="2350008"/>
            <a:ext cx="1593402" cy="228600"/>
          </a:xfrm>
          <a:prstGeom prst="rect">
            <a:avLst/>
          </a:prstGeom>
          <a:solidFill>
            <a:srgbClr val="62A8FF"/>
          </a:solidFill>
          <a:ln w="12700">
            <a:solidFill>
              <a:srgbClr val="6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05288" y="2304288"/>
            <a:ext cx="658368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62A8FF"/>
                </a:solidFill>
                <a:latin typeface="Noto Sans CJK SC"/>
              </a:defRPr>
            </a:pPr>
            <a:r>
              <a:t>0.857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825496"/>
            <a:ext cx="15087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30" b="0">
                <a:solidFill>
                  <a:srgbClr val="A7B6CA"/>
                </a:solidFill>
                <a:latin typeface="Noto Sans CJK SC"/>
              </a:defRPr>
            </a:pPr>
            <a:r>
              <a:t>C50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2852927"/>
            <a:ext cx="2788920" cy="228600"/>
          </a:xfrm>
          <a:prstGeom prst="rect">
            <a:avLst/>
          </a:prstGeom>
          <a:solidFill>
            <a:srgbClr val="17263D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2852927"/>
            <a:ext cx="2192091" cy="228600"/>
          </a:xfrm>
          <a:prstGeom prst="rect">
            <a:avLst/>
          </a:prstGeom>
          <a:solidFill>
            <a:srgbClr val="B69BFF"/>
          </a:solidFill>
          <a:ln w="12700">
            <a:solidFill>
              <a:srgbClr val="B6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05288" y="2807208"/>
            <a:ext cx="658368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B69BFF"/>
                </a:solidFill>
                <a:latin typeface="Noto Sans CJK SC"/>
              </a:defRPr>
            </a:pPr>
            <a:r>
              <a:t>1.179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3328416"/>
            <a:ext cx="15087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30" b="0">
                <a:solidFill>
                  <a:srgbClr val="A7B6CA"/>
                </a:solidFill>
                <a:latin typeface="Noto Sans CJK SC"/>
              </a:defRPr>
            </a:pPr>
            <a:r>
              <a:t>C100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3355848"/>
            <a:ext cx="2788920" cy="228600"/>
          </a:xfrm>
          <a:prstGeom prst="rect">
            <a:avLst/>
          </a:prstGeom>
          <a:solidFill>
            <a:srgbClr val="17263D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06640" y="3355848"/>
            <a:ext cx="2539776" cy="228600"/>
          </a:xfrm>
          <a:prstGeom prst="rect">
            <a:avLst/>
          </a:prstGeom>
          <a:solidFill>
            <a:srgbClr val="FF7A85"/>
          </a:solidFill>
          <a:ln w="12700">
            <a:solidFill>
              <a:srgbClr val="FF7A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05288" y="3310128"/>
            <a:ext cx="658368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FF7A85"/>
                </a:solidFill>
                <a:latin typeface="Noto Sans CJK SC"/>
              </a:defRPr>
            </a:pPr>
            <a:r>
              <a:t>1.366 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788920"/>
            <a:ext cx="4663440" cy="1673352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50392" y="2953512"/>
            <a:ext cx="0" cy="1344168"/>
          </a:xfrm>
          <a:prstGeom prst="line">
            <a:avLst/>
          </a:prstGeom>
          <a:ln w="44450">
            <a:solidFill>
              <a:srgbClr val="FF7A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24128" y="2935224"/>
            <a:ext cx="42062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FF7A85"/>
                </a:solidFill>
                <a:latin typeface="Noto Sans CJK SC"/>
              </a:defRPr>
            </a:pPr>
            <a:r>
              <a:t>为什么失败？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383279"/>
            <a:ext cx="4206240" cy="9601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60" b="0">
                <a:solidFill>
                  <a:srgbClr val="A7B6CA"/>
                </a:solidFill>
                <a:latin typeface="Noto Sans CJK SC"/>
              </a:defRPr>
            </a:pPr>
            <a:r>
              <a:t>“python -m pytest”说明要跑测试，却不知道仓库规模、依赖是否缓存、测试是否会下载数据。文字像，不等于剩余工作像。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4050791"/>
            <a:ext cx="1600200" cy="102412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89320" y="4160520"/>
            <a:ext cx="132588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300" b="1">
                <a:solidFill>
                  <a:srgbClr val="FF7A85"/>
                </a:solidFill>
                <a:latin typeface="Noto Sans CJK SC"/>
              </a:defRPr>
            </a:pPr>
            <a:r>
              <a:t>+0.587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9320" y="4544568"/>
            <a:ext cx="132588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C100 额外后悔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20" y="4782312"/>
            <a:ext cx="13258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80" b="0">
                <a:solidFill>
                  <a:srgbClr val="A7B6CA"/>
                </a:solidFill>
                <a:latin typeface="Noto Sans CJK SC"/>
              </a:defRPr>
            </a:pPr>
            <a:r>
              <a:t>95% CI +0.120~+1.188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35240" y="4050791"/>
            <a:ext cx="1600200" cy="102412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0" y="4160520"/>
            <a:ext cx="132588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300" b="1">
                <a:solidFill>
                  <a:srgbClr val="F4C75B"/>
                </a:solidFill>
                <a:latin typeface="Noto Sans CJK SC"/>
              </a:defRPr>
            </a:pPr>
            <a:r>
              <a:t>46 / 44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544568"/>
            <a:ext cx="132588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有帮助 / 有伤害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782312"/>
            <a:ext cx="13258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80" b="0">
                <a:solidFill>
                  <a:srgbClr val="A7B6CA"/>
                </a:solidFill>
                <a:latin typeface="Noto Sans CJK SC"/>
              </a:defRPr>
            </a:pPr>
            <a:r>
              <a:t>变化次数几乎对半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18320" y="4050791"/>
            <a:ext cx="1600200" cy="102412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55480" y="4160520"/>
            <a:ext cx="132588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300" b="1">
                <a:solidFill>
                  <a:srgbClr val="FF7A85"/>
                </a:solidFill>
                <a:latin typeface="Noto Sans CJK SC"/>
              </a:defRPr>
            </a:pPr>
            <a:r>
              <a:t>35.5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5480" y="4544568"/>
            <a:ext cx="132588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最差 1% 后悔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55480" y="4782312"/>
            <a:ext cx="132588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80" b="0">
                <a:solidFill>
                  <a:srgbClr val="A7B6CA"/>
                </a:solidFill>
                <a:latin typeface="Noto Sans CJK SC"/>
              </a:defRPr>
            </a:pPr>
            <a:r>
              <a:t>工具名对照 17.3 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733288"/>
            <a:ext cx="10881360" cy="530352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1248" y="5879592"/>
            <a:ext cx="1325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50" b="1">
                <a:solidFill>
                  <a:srgbClr val="F4C75B"/>
                </a:solidFill>
                <a:latin typeface="Noto Sans CJK SC"/>
              </a:defRPr>
            </a:pPr>
            <a:r>
              <a:t>这一阶段学到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66543" y="5833872"/>
            <a:ext cx="9144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20" b="1">
                <a:solidFill>
                  <a:srgbClr val="F4F7FB"/>
                </a:solidFill>
                <a:latin typeface="Noto Sans CJK SC"/>
              </a:defRPr>
            </a:pPr>
            <a:r>
              <a:t>文本只能描述“在做什么”；资源预测还必须描述“做多少、做到哪、环境还差什么”。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6928" y="6455664"/>
            <a:ext cx="11064240" cy="0"/>
          </a:xfrm>
          <a:prstGeom prst="line">
            <a:avLst/>
          </a:prstGeom>
          <a:ln w="1016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66928" y="6492240"/>
            <a:ext cx="10972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780" b="0">
                <a:solidFill>
                  <a:srgbClr val="677990"/>
                </a:solidFill>
                <a:latin typeface="Noto Sans CJK SC"/>
              </a:defRPr>
            </a:pPr>
            <a:r>
              <a:t>证据：analysis/results/cachewise-swe-reproduction-20260731/result.json；论文：arXiv:2606.16824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64008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50" b="1">
                <a:solidFill>
                  <a:srgbClr val="32D5C4"/>
                </a:solidFill>
                <a:latin typeface="Noto Sans CJK SC"/>
              </a:defRPr>
            </a:pPr>
            <a:r>
              <a:t>转向真实工作量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09728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600" b="1">
                <a:solidFill>
                  <a:srgbClr val="F4F7FB"/>
                </a:solidFill>
                <a:latin typeface="Noto Sans CJK SC"/>
              </a:defRPr>
            </a:pPr>
            <a:r>
              <a:t>阶段 2：同一仓库更可学，收益来自任务结构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51560"/>
            <a:ext cx="11064240" cy="0"/>
          </a:xfrm>
          <a:prstGeom prst="line">
            <a:avLst/>
          </a:prstGeom>
          <a:ln w="1270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20272" y="201168"/>
            <a:ext cx="320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950" b="1">
                <a:solidFill>
                  <a:srgbClr val="677990"/>
                </a:solidFill>
                <a:latin typeface="Noto Sans CJK SC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53312"/>
            <a:ext cx="493776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F4F7FB"/>
                </a:solidFill>
                <a:latin typeface="Noto Sans CJK SC"/>
              </a:defRPr>
            </a:pPr>
            <a:r>
              <a:t>SQLGlot50 · 四目标平均准确率（越高越好）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19656"/>
            <a:ext cx="15087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30" b="0">
                <a:solidFill>
                  <a:srgbClr val="A7B6CA"/>
                </a:solidFill>
                <a:latin typeface="Noto Sans CJK SC"/>
              </a:defRPr>
            </a:pPr>
            <a:r>
              <a:t>无脑选最多档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1847088"/>
            <a:ext cx="2788920" cy="228600"/>
          </a:xfrm>
          <a:prstGeom prst="rect">
            <a:avLst/>
          </a:prstGeom>
          <a:solidFill>
            <a:srgbClr val="17263D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31720" y="1847088"/>
            <a:ext cx="1974081" cy="228600"/>
          </a:xfrm>
          <a:prstGeom prst="rect">
            <a:avLst/>
          </a:prstGeom>
          <a:solidFill>
            <a:srgbClr val="677990"/>
          </a:solidFill>
          <a:ln w="12700">
            <a:solidFill>
              <a:srgbClr val="677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0368" y="1801368"/>
            <a:ext cx="658368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677990"/>
                </a:solidFill>
                <a:latin typeface="Noto Sans CJK SC"/>
              </a:defRPr>
            </a:pPr>
            <a:r>
              <a:t>70.783%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74976"/>
            <a:ext cx="15087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30" b="0">
                <a:solidFill>
                  <a:srgbClr val="A7B6CA"/>
                </a:solidFill>
                <a:latin typeface="Noto Sans CJK SC"/>
              </a:defRPr>
            </a:pPr>
            <a:r>
              <a:t>子命令历史库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31720" y="2502407"/>
            <a:ext cx="2788920" cy="228600"/>
          </a:xfrm>
          <a:prstGeom prst="rect">
            <a:avLst/>
          </a:prstGeom>
          <a:solidFill>
            <a:srgbClr val="17263D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31720" y="2502407"/>
            <a:ext cx="2236797" cy="228600"/>
          </a:xfrm>
          <a:prstGeom prst="rect">
            <a:avLst/>
          </a:prstGeom>
          <a:solidFill>
            <a:srgbClr val="62A8FF"/>
          </a:solidFill>
          <a:ln w="12700">
            <a:solidFill>
              <a:srgbClr val="6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2456688"/>
            <a:ext cx="658368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62A8FF"/>
                </a:solidFill>
                <a:latin typeface="Noto Sans CJK SC"/>
              </a:defRPr>
            </a:pPr>
            <a:r>
              <a:t>80.203%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30296"/>
            <a:ext cx="15087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30" b="0">
                <a:solidFill>
                  <a:srgbClr val="A7B6CA"/>
                </a:solidFill>
                <a:latin typeface="Noto Sans CJK SC"/>
              </a:defRPr>
            </a:pPr>
            <a:r>
              <a:t>任务感知预测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1720" y="3157728"/>
            <a:ext cx="2788920" cy="228600"/>
          </a:xfrm>
          <a:prstGeom prst="rect">
            <a:avLst/>
          </a:prstGeom>
          <a:solidFill>
            <a:srgbClr val="17263D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31720" y="3157728"/>
            <a:ext cx="2355605" cy="228600"/>
          </a:xfrm>
          <a:prstGeom prst="rect">
            <a:avLst/>
          </a:prstGeom>
          <a:solidFill>
            <a:srgbClr val="40D39C"/>
          </a:solidFill>
          <a:ln w="12700">
            <a:solidFill>
              <a:srgbClr val="40D3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0368" y="3112008"/>
            <a:ext cx="658368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40D39C"/>
                </a:solidFill>
                <a:latin typeface="Noto Sans CJK SC"/>
              </a:defRPr>
            </a:pPr>
            <a:r>
              <a:t>84.463%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353312"/>
            <a:ext cx="38404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F4F7FB"/>
                </a:solidFill>
                <a:latin typeface="Noto Sans CJK SC"/>
              </a:defRPr>
            </a:pPr>
            <a:r>
              <a:t>迁移到 PennyLane（越高越好）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810512"/>
            <a:ext cx="2103120" cy="102412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1920240"/>
            <a:ext cx="1828799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300" b="1">
                <a:solidFill>
                  <a:srgbClr val="62A8FF"/>
                </a:solidFill>
                <a:latin typeface="Noto Sans CJK SC"/>
              </a:defRPr>
            </a:pPr>
            <a:r>
              <a:t>75.680%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304288"/>
            <a:ext cx="182879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子命令历史库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41080" y="1810512"/>
            <a:ext cx="2103120" cy="102412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1920240"/>
            <a:ext cx="1828799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300" b="1">
                <a:solidFill>
                  <a:srgbClr val="40D39C"/>
                </a:solidFill>
                <a:latin typeface="Noto Sans CJK SC"/>
              </a:defRPr>
            </a:pPr>
            <a:r>
              <a:t>78.326%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2304288"/>
            <a:ext cx="182879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任务感知预测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2542032"/>
            <a:ext cx="1828799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80" b="0">
                <a:solidFill>
                  <a:srgbClr val="A7B6CA"/>
                </a:solidFill>
                <a:latin typeface="Noto Sans CJK SC"/>
              </a:defRPr>
            </a:pPr>
            <a:r>
              <a:t>+2.646 个百分点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867912"/>
            <a:ext cx="32004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F4F7FB"/>
                </a:solidFill>
                <a:latin typeface="Noto Sans CJK SC"/>
              </a:defRPr>
            </a:pPr>
            <a:r>
              <a:t>任务感知预测增加了什么？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279392"/>
            <a:ext cx="7498079" cy="1097280"/>
          </a:xfrm>
          <a:prstGeom prst="rect">
            <a:avLst/>
          </a:prstGeom>
          <a:noFill/>
        </p:spPr>
        <p:txBody>
          <a:bodyPr wrap="square" lIns="18288" rIns="18288" tIns="9144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F4F7FB"/>
                </a:solidFill>
                <a:latin typeface="Noto Sans CJK SC"/>
              </a:defRPr>
            </a:pPr>
            <a:r>
              <a:t>•  完整命令历史，而不是只看单个子命令</a:t>
            </a:r>
          </a:p>
          <a:p>
            <a:pPr>
              <a:spcAft>
                <a:spcPts val="900"/>
              </a:spcAft>
              <a:defRPr sz="1400">
                <a:solidFill>
                  <a:srgbClr val="F4F7FB"/>
                </a:solidFill>
                <a:latin typeface="Noto Sans CJK SC"/>
              </a:defRPr>
            </a:pPr>
            <a:r>
              <a:t>•  同一测试套件的第几次运行（环境可能已变热）</a:t>
            </a:r>
          </a:p>
          <a:p>
            <a:pPr>
              <a:spcAft>
                <a:spcPts val="900"/>
              </a:spcAft>
              <a:defRPr sz="1400">
                <a:solidFill>
                  <a:srgbClr val="F4F7FB"/>
                </a:solidFill>
                <a:latin typeface="Noto Sans CJK SC"/>
              </a:defRPr>
            </a:pPr>
            <a:r>
              <a:t>•  pip / pytest 的等价工作表示；没有证据时回退子命令历史库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4069080"/>
            <a:ext cx="1143000" cy="310896"/>
          </a:xfrm>
          <a:prstGeom prst="roundRect">
            <a:avLst/>
          </a:prstGeom>
          <a:solidFill>
            <a:srgbClr val="40D39C"/>
          </a:solidFill>
          <a:ln w="12700">
            <a:solidFill>
              <a:srgbClr val="40D3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32520" y="4087368"/>
            <a:ext cx="1051560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defRPr sz="1019" b="1">
                <a:solidFill>
                  <a:srgbClr val="09111F"/>
                </a:solidFill>
                <a:latin typeface="Noto Sans CJK SC"/>
              </a:defRPr>
            </a:pPr>
            <a:r>
              <a:t>77 次改对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66960" y="4069080"/>
            <a:ext cx="1234440" cy="310896"/>
          </a:xfrm>
          <a:prstGeom prst="roundRect">
            <a:avLst/>
          </a:prstGeom>
          <a:solidFill>
            <a:srgbClr val="FF7A85"/>
          </a:solidFill>
          <a:ln w="12700">
            <a:solidFill>
              <a:srgbClr val="FF7A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4087368"/>
            <a:ext cx="1143000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defRPr sz="1019" b="1">
                <a:solidFill>
                  <a:srgbClr val="09111F"/>
                </a:solidFill>
                <a:latin typeface="Noto Sans CJK SC"/>
              </a:defRPr>
            </a:pPr>
            <a:r>
              <a:t>25 次改错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4617720"/>
            <a:ext cx="2423160" cy="62179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300" b="0">
                <a:solidFill>
                  <a:srgbClr val="A7B6CA"/>
                </a:solidFill>
                <a:latin typeface="Noto Sans CJK SC"/>
              </a:defRPr>
            </a:pPr>
            <a:r>
              <a:t>迁移收益来自多个 task，</a:t>
            </a:r>
            <a:br/>
            <a:r>
              <a:t>但绝对提升仍然有限。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33288"/>
            <a:ext cx="10881360" cy="530352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" y="5879592"/>
            <a:ext cx="1325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50" b="1">
                <a:solidFill>
                  <a:srgbClr val="F4C75B"/>
                </a:solidFill>
                <a:latin typeface="Noto Sans CJK SC"/>
              </a:defRPr>
            </a:pPr>
            <a:r>
              <a:t>这一阶段学到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66543" y="5833872"/>
            <a:ext cx="9144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20" b="1">
                <a:solidFill>
                  <a:srgbClr val="F4F7FB"/>
                </a:solidFill>
                <a:latin typeface="Noto Sans CJK SC"/>
              </a:defRPr>
            </a:pPr>
            <a:r>
              <a:t>同仓库 trace 提供可重复结构；它能改进预测，却没有自动回答“调度该做什么”。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66928" y="6455664"/>
            <a:ext cx="11064240" cy="0"/>
          </a:xfrm>
          <a:prstGeom prst="line">
            <a:avLst/>
          </a:prstGeom>
          <a:ln w="1016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6928" y="6492240"/>
            <a:ext cx="10972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780" b="0">
                <a:solidFill>
                  <a:srgbClr val="677990"/>
                </a:solidFill>
                <a:latin typeface="Noto Sans CJK SC"/>
              </a:defRPr>
            </a:pPr>
            <a:r>
              <a:t>证据：sqlglot50-multitarget-sota-v1；pennylane-multitarget-transfer-validation-v1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64008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50" b="1">
                <a:solidFill>
                  <a:srgbClr val="32D5C4"/>
                </a:solidFill>
                <a:latin typeface="Noto Sans CJK SC"/>
              </a:defRPr>
            </a:pPr>
            <a:r>
              <a:t>澄清历史库的角色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09728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600" b="1">
                <a:solidFill>
                  <a:srgbClr val="F4F7FB"/>
                </a:solidFill>
                <a:latin typeface="Noto Sans CJK SC"/>
              </a:defRPr>
            </a:pPr>
            <a:r>
              <a:t>阶段 3：换索引结构不是答案，证据才是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51560"/>
            <a:ext cx="11064240" cy="0"/>
          </a:xfrm>
          <a:prstGeom prst="line">
            <a:avLst/>
          </a:prstGeom>
          <a:ln w="1270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20272" y="201168"/>
            <a:ext cx="320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950" b="1">
                <a:solidFill>
                  <a:srgbClr val="677990"/>
                </a:solidFill>
                <a:latin typeface="Noto Sans CJK SC"/>
              </a:defRPr>
            </a:pPr>
            <a: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53312"/>
            <a:ext cx="3291840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F4F7FB"/>
                </a:solidFill>
                <a:latin typeface="Noto Sans CJK SC"/>
              </a:defRPr>
            </a:pPr>
            <a:r>
              <a:t>评分单位始终是完整命令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874519"/>
            <a:ext cx="2359152" cy="114300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32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213969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400" b="1">
                <a:solidFill>
                  <a:srgbClr val="32D5C4"/>
                </a:solidFill>
                <a:latin typeface="Noto Sans CJK SC"/>
              </a:defRPr>
            </a:pPr>
            <a:r>
              <a:t>完整命令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95728"/>
            <a:ext cx="213969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A7B6CA"/>
                </a:solidFill>
                <a:latin typeface="Noto Sans CJK SC"/>
              </a:defRPr>
            </a:pPr>
            <a:r>
              <a:t>pytest -n 8 tests/core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63824" y="2331720"/>
            <a:ext cx="237744" cy="164592"/>
          </a:xfrm>
          <a:prstGeom prst="rightArrow">
            <a:avLst/>
          </a:prstGeom>
          <a:solidFill>
            <a:srgbClr val="677990"/>
          </a:solidFill>
          <a:ln>
            <a:solidFill>
              <a:srgbClr val="677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02152" y="1874519"/>
            <a:ext cx="2359152" cy="114300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6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011680"/>
            <a:ext cx="213969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400" b="1">
                <a:solidFill>
                  <a:srgbClr val="62A8FF"/>
                </a:solidFill>
                <a:latin typeface="Noto Sans CJK SC"/>
              </a:defRPr>
            </a:pPr>
            <a:r>
              <a:t>子命令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395728"/>
            <a:ext cx="213969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A7B6CA"/>
                </a:solidFill>
                <a:latin typeface="Noto Sans CJK SC"/>
              </a:defRPr>
            </a:pPr>
            <a:r>
              <a:t>拆出可归因的执行片段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52744" y="2331720"/>
            <a:ext cx="237744" cy="164592"/>
          </a:xfrm>
          <a:prstGeom prst="rightArrow">
            <a:avLst/>
          </a:prstGeom>
          <a:solidFill>
            <a:srgbClr val="677990"/>
          </a:solidFill>
          <a:ln>
            <a:solidFill>
              <a:srgbClr val="677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91072" y="1874519"/>
            <a:ext cx="2359152" cy="114300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B6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011680"/>
            <a:ext cx="213969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400" b="1">
                <a:solidFill>
                  <a:srgbClr val="B69BFF"/>
                </a:solidFill>
                <a:latin typeface="Noto Sans CJK SC"/>
              </a:defRPr>
            </a:pPr>
            <a:r>
              <a:t>历史证据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395728"/>
            <a:ext cx="213969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A7B6CA"/>
                </a:solidFill>
                <a:latin typeface="Noto Sans CJK SC"/>
              </a:defRPr>
            </a:pPr>
            <a:r>
              <a:t>精确参数 / 前缀 / 工具名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741664" y="2331720"/>
            <a:ext cx="237744" cy="164592"/>
          </a:xfrm>
          <a:prstGeom prst="rightArrow">
            <a:avLst/>
          </a:prstGeom>
          <a:solidFill>
            <a:srgbClr val="677990"/>
          </a:solidFill>
          <a:ln>
            <a:solidFill>
              <a:srgbClr val="677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79991" y="1874519"/>
            <a:ext cx="2359152" cy="114300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40D3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19" y="2011680"/>
            <a:ext cx="2139696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400" b="1">
                <a:solidFill>
                  <a:srgbClr val="40D39C"/>
                </a:solidFill>
                <a:latin typeface="Noto Sans CJK SC"/>
              </a:defRPr>
            </a:pPr>
            <a:r>
              <a:t>四个预测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19" y="2395728"/>
            <a:ext cx="2139696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A7B6CA"/>
                </a:solidFill>
                <a:latin typeface="Noto Sans CJK SC"/>
              </a:defRPr>
            </a:pPr>
            <a:r>
              <a:t>时长、CPU、内存、磁盘档位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429000"/>
            <a:ext cx="3337560" cy="1426464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86968" y="3593592"/>
            <a:ext cx="0" cy="1097280"/>
          </a:xfrm>
          <a:prstGeom prst="line">
            <a:avLst/>
          </a:prstGeom>
          <a:ln w="44450">
            <a:solidFill>
              <a:srgbClr val="62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60704" y="3575304"/>
            <a:ext cx="28803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62A8FF"/>
                </a:solidFill>
                <a:latin typeface="Noto Sans CJK SC"/>
              </a:defRPr>
            </a:pPr>
            <a:r>
              <a:t>子命令的作用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" y="4023360"/>
            <a:ext cx="2880360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10" b="0">
                <a:solidFill>
                  <a:srgbClr val="A7B6CA"/>
                </a:solidFill>
                <a:latin typeface="Noto Sans CJK SC"/>
              </a:defRPr>
            </a:pPr>
            <a:r>
              <a:t>把复合命令拆细，找到是哪一段产生 CPU、内存、读写和时长。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6552" y="3429000"/>
            <a:ext cx="3337560" cy="1426464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553712" y="3593592"/>
            <a:ext cx="0" cy="1097280"/>
          </a:xfrm>
          <a:prstGeom prst="line">
            <a:avLst/>
          </a:prstGeom>
          <a:ln w="44450">
            <a:solidFill>
              <a:srgbClr val="B6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727448" y="3575304"/>
            <a:ext cx="28803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B69BFF"/>
                </a:solidFill>
                <a:latin typeface="Noto Sans CJK SC"/>
              </a:defRPr>
            </a:pPr>
            <a:r>
              <a:t>历史库的作用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7448" y="4023360"/>
            <a:ext cx="2880360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10" b="0">
                <a:solidFill>
                  <a:srgbClr val="A7B6CA"/>
                </a:solidFill>
                <a:latin typeface="Noto Sans CJK SC"/>
              </a:defRPr>
            </a:pPr>
            <a:r>
              <a:t>保存已完成任务的因果历史；当前任务和失败任务不能偷看。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3296" y="3429000"/>
            <a:ext cx="3337560" cy="1426464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8220456" y="3593592"/>
            <a:ext cx="0" cy="1097280"/>
          </a:xfrm>
          <a:prstGeom prst="line">
            <a:avLst/>
          </a:prstGeom>
          <a:ln w="44450">
            <a:solidFill>
              <a:srgbClr val="40D3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94192" y="3575304"/>
            <a:ext cx="28803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40D39C"/>
                </a:solidFill>
                <a:latin typeface="Noto Sans CJK SC"/>
              </a:defRPr>
            </a:pPr>
            <a:r>
              <a:t>预测器的作用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023360"/>
            <a:ext cx="2880360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10" b="0">
                <a:solidFill>
                  <a:srgbClr val="A7B6CA"/>
                </a:solidFill>
                <a:latin typeface="Noto Sans CJK SC"/>
              </a:defRPr>
            </a:pPr>
            <a:r>
              <a:t>把多层证据合成完整命令的档位概率；没有可靠证据时回退。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33288"/>
            <a:ext cx="10881360" cy="530352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" y="5879592"/>
            <a:ext cx="1325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50" b="1">
                <a:solidFill>
                  <a:srgbClr val="F4C75B"/>
                </a:solidFill>
                <a:latin typeface="Noto Sans CJK SC"/>
              </a:defRPr>
            </a:pPr>
            <a:r>
              <a:t>这一阶段学到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66543" y="5833872"/>
            <a:ext cx="9144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20" b="1">
                <a:solidFill>
                  <a:srgbClr val="F4F7FB"/>
                </a:solidFill>
                <a:latin typeface="Noto Sans CJK SC"/>
              </a:defRPr>
            </a:pPr>
            <a:r>
              <a:t>换数据结构只有在它改变了可用证据、预测和下游动作时才有科研意义。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66928" y="6455664"/>
            <a:ext cx="11064240" cy="0"/>
          </a:xfrm>
          <a:prstGeom prst="line">
            <a:avLst/>
          </a:prstGeom>
          <a:ln w="1016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6928" y="6492240"/>
            <a:ext cx="10972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780" b="0">
                <a:solidFill>
                  <a:srgbClr val="677990"/>
                </a:solidFill>
                <a:latin typeface="Noto Sans CJK SC"/>
              </a:defRPr>
            </a:pPr>
            <a:r>
              <a:t>口径：tool-resource-canonical-objective.md §2–3；当前历史库按完整参数、参数前缀、工具名逐层回退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64008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50" b="1">
                <a:solidFill>
                  <a:srgbClr val="32D5C4"/>
                </a:solidFill>
                <a:latin typeface="Noto Sans CJK SC"/>
              </a:defRPr>
            </a:pPr>
            <a:r>
              <a:t>手写规则、离线语言模型与上界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09728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600" b="1">
                <a:solidFill>
                  <a:srgbClr val="F4F7FB"/>
                </a:solidFill>
                <a:latin typeface="Noto Sans CJK SC"/>
              </a:defRPr>
            </a:pPr>
            <a:r>
              <a:t>阶段 4：因素之间的联系，才能解释真实工作量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51560"/>
            <a:ext cx="11064240" cy="0"/>
          </a:xfrm>
          <a:prstGeom prst="line">
            <a:avLst/>
          </a:prstGeom>
          <a:ln w="1270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20272" y="201168"/>
            <a:ext cx="320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950" b="1">
                <a:solidFill>
                  <a:srgbClr val="677990"/>
                </a:solidFill>
                <a:latin typeface="Noto Sans CJK SC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474720" cy="201168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68680" y="1490472"/>
            <a:ext cx="0" cy="1682496"/>
          </a:xfrm>
          <a:prstGeom prst="line">
            <a:avLst/>
          </a:prstGeom>
          <a:ln w="44450">
            <a:solidFill>
              <a:srgbClr val="6779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42416" y="1472184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677990"/>
                </a:solidFill>
                <a:latin typeface="Noto Sans CJK SC"/>
              </a:defRPr>
            </a:pPr>
            <a:r>
              <a:t>pip：收益上界很小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1920240"/>
            <a:ext cx="3017520" cy="1298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60" b="0">
                <a:solidFill>
                  <a:srgbClr val="A7B6CA"/>
                </a:solidFill>
                <a:latin typeface="Noto Sans CJK SC"/>
              </a:defRPr>
            </a:pPr>
            <a:r>
              <a:t>即使知道完美的 pip 工作类型，四目标平均准确率最多只提高 0.392 个百分点。</a:t>
            </a:r>
            <a:br/>
            <a:br/>
            <a:r>
              <a:t>继续雕刻 package 规则不划算。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325880"/>
            <a:ext cx="3474720" cy="201168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507992" y="1490472"/>
            <a:ext cx="0" cy="1682496"/>
          </a:xfrm>
          <a:prstGeom prst="line">
            <a:avLst/>
          </a:prstGeom>
          <a:ln w="44450">
            <a:solidFill>
              <a:srgbClr val="40D3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681728" y="1472184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40D39C"/>
                </a:solidFill>
                <a:latin typeface="Noto Sans CJK SC"/>
              </a:defRPr>
            </a:pPr>
            <a:r>
              <a:t>pytest：两个因素要一起看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1920240"/>
            <a:ext cx="3017520" cy="1298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60" b="0">
                <a:solidFill>
                  <a:srgbClr val="A7B6CA"/>
                </a:solidFill>
                <a:latin typeface="Noto Sans CJK SC"/>
              </a:defRPr>
            </a:pPr>
            <a:r>
              <a:t>只看并行进程数，高内存档召回率 2.381%。</a:t>
            </a:r>
            <a:br/>
            <a:br/>
            <a:r>
              <a:t>同时看并行进程数 × 测试范围后，达到 54.762%。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325880"/>
            <a:ext cx="3474720" cy="201168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8147304" y="1490472"/>
            <a:ext cx="0" cy="1682496"/>
          </a:xfrm>
          <a:prstGeom prst="line">
            <a:avLst/>
          </a:prstGeom>
          <a:ln w="44450">
            <a:solidFill>
              <a:srgbClr val="FF7A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321040" y="1472184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FF7A85"/>
                </a:solidFill>
                <a:latin typeface="Noto Sans CJK SC"/>
              </a:defRPr>
            </a:pPr>
            <a:r>
              <a:t>通用 agent：没有捷径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920240"/>
            <a:ext cx="3017520" cy="12984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60" b="0">
                <a:solidFill>
                  <a:srgbClr val="A7B6CA"/>
                </a:solidFill>
                <a:latin typeface="Noto Sans CJK SC"/>
              </a:defRPr>
            </a:pPr>
            <a:r>
              <a:t>让 agent 从 trace 自动生成复杂模式，没有得到可区分的新状态；任意代码还带来泄漏与验证成本。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85615"/>
            <a:ext cx="1051560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600" b="1">
                <a:solidFill>
                  <a:srgbClr val="F4F7FB"/>
                </a:solidFill>
                <a:latin typeface="Noto Sans CJK SC"/>
              </a:defRPr>
            </a:pPr>
            <a:r>
              <a:t>pytest 的关键不是识别名字，而是估算并行度与工作范围的乘法效应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74519" y="4370832"/>
            <a:ext cx="2011680" cy="640080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6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74519" y="4553712"/>
            <a:ext cx="20116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400" b="1">
                <a:solidFill>
                  <a:srgbClr val="62A8FF"/>
                </a:solidFill>
                <a:latin typeface="Noto Sans CJK SC"/>
              </a:defRPr>
            </a:pPr>
            <a:r>
              <a:t>并行进程数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4462272"/>
            <a:ext cx="41148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2400" b="1">
                <a:solidFill>
                  <a:srgbClr val="F4C75B"/>
                </a:solidFill>
                <a:latin typeface="Noto Sans CJK SC"/>
              </a:defRPr>
            </a:pPr>
            <a:r>
              <a:t>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4370832"/>
            <a:ext cx="2011680" cy="640080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B6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4553712"/>
            <a:ext cx="20116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400" b="1">
                <a:solidFill>
                  <a:srgbClr val="B69BFF"/>
                </a:solidFill>
                <a:latin typeface="Noto Sans CJK SC"/>
              </a:defRPr>
            </a:pPr>
            <a:r>
              <a:t>测试范围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87184" y="4572000"/>
            <a:ext cx="640080" cy="182880"/>
          </a:xfrm>
          <a:prstGeom prst="rightArrow">
            <a:avLst/>
          </a:prstGeom>
          <a:solidFill>
            <a:srgbClr val="677990"/>
          </a:solidFill>
          <a:ln>
            <a:solidFill>
              <a:srgbClr val="677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65008" y="4370832"/>
            <a:ext cx="2240280" cy="640080"/>
          </a:xfrm>
          <a:prstGeom prst="roundRect">
            <a:avLst/>
          </a:prstGeom>
          <a:solidFill>
            <a:srgbClr val="40D39C"/>
          </a:solidFill>
          <a:ln w="12700">
            <a:solidFill>
              <a:srgbClr val="40D3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5008" y="4553712"/>
            <a:ext cx="2240280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400" b="1">
                <a:solidFill>
                  <a:srgbClr val="09111F"/>
                </a:solidFill>
                <a:latin typeface="Noto Sans CJK SC"/>
              </a:defRPr>
            </a:pPr>
            <a:r>
              <a:t>内存压力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733288"/>
            <a:ext cx="10881360" cy="530352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" y="5879592"/>
            <a:ext cx="1325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50" b="1">
                <a:solidFill>
                  <a:srgbClr val="F4C75B"/>
                </a:solidFill>
                <a:latin typeface="Noto Sans CJK SC"/>
              </a:defRPr>
            </a:pPr>
            <a:r>
              <a:t>这一阶段学到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66543" y="5833872"/>
            <a:ext cx="9144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20" b="1">
                <a:solidFill>
                  <a:srgbClr val="F4F7FB"/>
                </a:solidFill>
                <a:latin typeface="Noto Sans CJK SC"/>
              </a:defRPr>
            </a:pPr>
            <a:r>
              <a:t>离线 LM 可以抽取少量、可验证的因素；真正的成本仍应由 trace 学习，而不是让 LM 直接猜。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6928" y="6455664"/>
            <a:ext cx="11064240" cy="0"/>
          </a:xfrm>
          <a:prstGeom prst="line">
            <a:avLst/>
          </a:prstGeom>
          <a:ln w="1016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66928" y="6492240"/>
            <a:ext cx="10972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780" b="0">
                <a:solidFill>
                  <a:srgbClr val="677990"/>
                </a:solidFill>
                <a:latin typeface="Noto Sans CJK SC"/>
              </a:defRPr>
            </a:pPr>
            <a:r>
              <a:t>证据：tool-resource-canonical-objective.md §5 Prediction and tool understanding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64008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50" b="1">
                <a:solidFill>
                  <a:srgbClr val="32D5C4"/>
                </a:solidFill>
                <a:latin typeface="Noto Sans CJK SC"/>
              </a:defRPr>
            </a:pPr>
            <a:r>
              <a:t>动态更新不是自动有用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09728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600" b="1">
                <a:solidFill>
                  <a:srgbClr val="F4F7FB"/>
                </a:solidFill>
                <a:latin typeface="Noto Sans CJK SC"/>
              </a:defRPr>
            </a:pPr>
            <a:r>
              <a:t>阶段 5：持续观察能提高准确率，但通常发现得太晚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51560"/>
            <a:ext cx="11064240" cy="0"/>
          </a:xfrm>
          <a:prstGeom prst="line">
            <a:avLst/>
          </a:prstGeom>
          <a:ln w="1270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20272" y="201168"/>
            <a:ext cx="320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950" b="1">
                <a:solidFill>
                  <a:srgbClr val="677990"/>
                </a:solidFill>
                <a:latin typeface="Noto Sans CJK SC"/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53312"/>
            <a:ext cx="484632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F4F7FB"/>
                </a:solidFill>
                <a:latin typeface="Noto Sans CJK SC"/>
              </a:defRPr>
            </a:pPr>
            <a:r>
              <a:t>SQLGlot：时长加权准确率（越高越好）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865376"/>
            <a:ext cx="15087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30" b="0">
                <a:solidFill>
                  <a:srgbClr val="A7B6CA"/>
                </a:solidFill>
                <a:latin typeface="Noto Sans CJK SC"/>
              </a:defRPr>
            </a:pPr>
            <a:r>
              <a:t>开始前预测</a:t>
            </a:r>
          </a:p>
        </p:txBody>
      </p:sp>
      <p:sp>
        <p:nvSpPr>
          <p:cNvPr id="8" name="Rectangle 7"/>
          <p:cNvSpPr/>
          <p:nvPr/>
        </p:nvSpPr>
        <p:spPr>
          <a:xfrm>
            <a:off x="2313432" y="1892807"/>
            <a:ext cx="3154679" cy="228600"/>
          </a:xfrm>
          <a:prstGeom prst="rect">
            <a:avLst/>
          </a:prstGeom>
          <a:solidFill>
            <a:srgbClr val="17263D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13432" y="1892807"/>
            <a:ext cx="1901010" cy="228600"/>
          </a:xfrm>
          <a:prstGeom prst="rect">
            <a:avLst/>
          </a:prstGeom>
          <a:solidFill>
            <a:srgbClr val="677990"/>
          </a:solidFill>
          <a:ln w="12700">
            <a:solidFill>
              <a:srgbClr val="677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1847088"/>
            <a:ext cx="658368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677990"/>
                </a:solidFill>
                <a:latin typeface="Noto Sans CJK SC"/>
              </a:defRPr>
            </a:pPr>
            <a:r>
              <a:t>60.260%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535936"/>
            <a:ext cx="15087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30" b="0">
                <a:solidFill>
                  <a:srgbClr val="A7B6CA"/>
                </a:solidFill>
                <a:latin typeface="Noto Sans CJK SC"/>
              </a:defRPr>
            </a:pPr>
            <a:r>
              <a:t>完整命令存活时间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13432" y="2563368"/>
            <a:ext cx="3154679" cy="228600"/>
          </a:xfrm>
          <a:prstGeom prst="rect">
            <a:avLst/>
          </a:prstGeom>
          <a:solidFill>
            <a:srgbClr val="17263D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13432" y="2563368"/>
            <a:ext cx="2392099" cy="228600"/>
          </a:xfrm>
          <a:prstGeom prst="rect">
            <a:avLst/>
          </a:prstGeom>
          <a:solidFill>
            <a:srgbClr val="62A8FF"/>
          </a:solidFill>
          <a:ln w="12700">
            <a:solidFill>
              <a:srgbClr val="6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7840" y="2517648"/>
            <a:ext cx="658368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62A8FF"/>
                </a:solidFill>
                <a:latin typeface="Noto Sans CJK SC"/>
              </a:defRPr>
            </a:pPr>
            <a:r>
              <a:t>75.827%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206496"/>
            <a:ext cx="15087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30" b="0">
                <a:solidFill>
                  <a:srgbClr val="A7B6CA"/>
                </a:solidFill>
                <a:latin typeface="Noto Sans CJK SC"/>
              </a:defRPr>
            </a:pPr>
            <a:r>
              <a:t>子命令存活时间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13432" y="3233928"/>
            <a:ext cx="3154679" cy="228600"/>
          </a:xfrm>
          <a:prstGeom prst="rect">
            <a:avLst/>
          </a:prstGeom>
          <a:solidFill>
            <a:srgbClr val="17263D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13432" y="3233928"/>
            <a:ext cx="2635735" cy="228600"/>
          </a:xfrm>
          <a:prstGeom prst="rect">
            <a:avLst/>
          </a:prstGeom>
          <a:solidFill>
            <a:srgbClr val="40D39C"/>
          </a:solidFill>
          <a:ln w="12700">
            <a:solidFill>
              <a:srgbClr val="40D3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3188208"/>
            <a:ext cx="658368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40D39C"/>
                </a:solidFill>
                <a:latin typeface="Noto Sans CJK SC"/>
              </a:defRPr>
            </a:pPr>
            <a:r>
              <a:t>83.550%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353312"/>
            <a:ext cx="41148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F4F7FB"/>
                </a:solidFill>
                <a:latin typeface="Noto Sans CJK SC"/>
              </a:defRPr>
            </a:pPr>
            <a:r>
              <a:t>但它提前多久变得稳定正确？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1874519"/>
            <a:ext cx="1965960" cy="102412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1984248"/>
            <a:ext cx="1691639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300" b="1">
                <a:solidFill>
                  <a:srgbClr val="62A8FF"/>
                </a:solidFill>
                <a:latin typeface="Noto Sans CJK SC"/>
              </a:defRPr>
            </a:pPr>
            <a:r>
              <a:t>49.2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2368296"/>
            <a:ext cx="169163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完整命令提前量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87968" y="1874519"/>
            <a:ext cx="1965960" cy="102412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25128" y="1984248"/>
            <a:ext cx="1691639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300" b="1">
                <a:solidFill>
                  <a:srgbClr val="40D39C"/>
                </a:solidFill>
                <a:latin typeface="Noto Sans CJK SC"/>
              </a:defRPr>
            </a:pPr>
            <a:r>
              <a:t>38.2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368296"/>
            <a:ext cx="1691639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子命令提前量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3227832"/>
            <a:ext cx="4178808" cy="786384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FF7A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447288"/>
            <a:ext cx="3813048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500" b="1">
                <a:solidFill>
                  <a:srgbClr val="FF7A85"/>
                </a:solidFill>
                <a:latin typeface="Noto Sans CJK SC"/>
              </a:defRPr>
            </a:pPr>
            <a:r>
              <a:t>调度动作至少需要 500 ms 提前量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65960" y="4261104"/>
            <a:ext cx="14630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300" b="0">
                <a:solidFill>
                  <a:srgbClr val="A7B6CA"/>
                </a:solidFill>
                <a:latin typeface="Noto Sans CJK SC"/>
              </a:defRPr>
            </a:pPr>
            <a:r>
              <a:t>正确得更晚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3474720" y="4325112"/>
            <a:ext cx="2194560" cy="164592"/>
          </a:xfrm>
          <a:prstGeom prst="rightArrow">
            <a:avLst/>
          </a:prstGeom>
          <a:solidFill>
            <a:srgbClr val="17263D"/>
          </a:solidFill>
          <a:ln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4261104"/>
            <a:ext cx="19202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300" b="1">
                <a:solidFill>
                  <a:srgbClr val="FF7A85"/>
                </a:solidFill>
                <a:latin typeface="Noto Sans CJK SC"/>
              </a:defRPr>
            </a:pPr>
            <a:r>
              <a:t>动作窗口已经过去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733288"/>
            <a:ext cx="10881360" cy="530352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5879592"/>
            <a:ext cx="1325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50" b="1">
                <a:solidFill>
                  <a:srgbClr val="F4C75B"/>
                </a:solidFill>
                <a:latin typeface="Noto Sans CJK SC"/>
              </a:defRPr>
            </a:pPr>
            <a:r>
              <a:t>这一阶段学到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66543" y="5833872"/>
            <a:ext cx="9144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20" b="1">
                <a:solidFill>
                  <a:srgbClr val="F4F7FB"/>
                </a:solidFill>
                <a:latin typeface="Noto Sans CJK SC"/>
              </a:defRPr>
            </a:pPr>
            <a:r>
              <a:t>预测是否有价值，要同时看“正确多少”和“提前多久”；晚到的正确答案不能指导调度。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6455664"/>
            <a:ext cx="11064240" cy="0"/>
          </a:xfrm>
          <a:prstGeom prst="line">
            <a:avLst/>
          </a:prstGeom>
          <a:ln w="1016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492240"/>
            <a:ext cx="10972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780" b="0">
                <a:solidFill>
                  <a:srgbClr val="677990"/>
                </a:solidFill>
                <a:latin typeface="Noto Sans CJK SC"/>
              </a:defRPr>
            </a:pPr>
            <a:r>
              <a:t>证据：sqlglot50-empirical-command-survival-v2/result.json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64008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50" b="1">
                <a:solidFill>
                  <a:srgbClr val="32D5C4"/>
                </a:solidFill>
                <a:latin typeface="Noto Sans CJK SC"/>
              </a:defRPr>
            </a:pPr>
            <a:r>
              <a:t>从预测转向动作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09728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600" b="1">
                <a:solidFill>
                  <a:srgbClr val="F4F7FB"/>
                </a:solidFill>
                <a:latin typeface="Noto Sans CJK SC"/>
              </a:defRPr>
            </a:pPr>
            <a:r>
              <a:t>阶段 6：预测准确 ≠ 调度安全；运行时反馈反而更可靠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51560"/>
            <a:ext cx="11064240" cy="0"/>
          </a:xfrm>
          <a:prstGeom prst="line">
            <a:avLst/>
          </a:prstGeom>
          <a:ln w="1270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20272" y="201168"/>
            <a:ext cx="320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950" b="1">
                <a:solidFill>
                  <a:srgbClr val="677990"/>
                </a:solidFill>
                <a:latin typeface="Noto Sans CJK SC"/>
              </a:defRPr>
            </a:pPr>
            <a: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53312"/>
            <a:ext cx="2331720" cy="102412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63040"/>
            <a:ext cx="205740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300" b="1">
                <a:solidFill>
                  <a:srgbClr val="40D39C"/>
                </a:solidFill>
                <a:latin typeface="Noto Sans CJK SC"/>
              </a:defRPr>
            </a:pPr>
            <a:r>
              <a:t>−45.010%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20574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CPU 预留量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84832"/>
            <a:ext cx="20574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80" b="0">
                <a:solidFill>
                  <a:srgbClr val="A7B6CA"/>
                </a:solidFill>
                <a:latin typeface="Noto Sans CJK SC"/>
              </a:defRPr>
            </a:pPr>
            <a:r>
              <a:t>因果运行时反馈；259 tasks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1353312"/>
            <a:ext cx="2331720" cy="102412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40"/>
            <a:ext cx="205740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300" b="1">
                <a:solidFill>
                  <a:srgbClr val="F4C75B"/>
                </a:solidFill>
                <a:latin typeface="Noto Sans CJK SC"/>
              </a:defRPr>
            </a:pPr>
            <a:r>
              <a:t>+1.543%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1847088"/>
            <a:ext cx="20574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工具自身变慢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2084832"/>
            <a:ext cx="20574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80" b="0">
                <a:solidFill>
                  <a:srgbClr val="A7B6CA"/>
                </a:solidFill>
                <a:latin typeface="Noto Sans CJK SC"/>
              </a:defRPr>
            </a:pPr>
            <a:r>
              <a:t>反馈动作的代价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15584" y="1353312"/>
            <a:ext cx="2331720" cy="102412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52744" y="1463040"/>
            <a:ext cx="205740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300" b="1">
                <a:solidFill>
                  <a:srgbClr val="62A8FF"/>
                </a:solidFill>
                <a:latin typeface="Noto Sans CJK SC"/>
              </a:defRPr>
            </a:pPr>
            <a:r>
              <a:t>−14.620%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52744" y="1847088"/>
            <a:ext cx="20574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理想 CPU 调度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2744" y="2084832"/>
            <a:ext cx="20574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80" b="0">
                <a:solidFill>
                  <a:srgbClr val="A7B6CA"/>
                </a:solidFill>
                <a:latin typeface="Noto Sans CJK SC"/>
              </a:defRPr>
            </a:pPr>
            <a:r>
              <a:t>知道未来的上界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7616" y="1353312"/>
            <a:ext cx="2331720" cy="102412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94776" y="1463040"/>
            <a:ext cx="205740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300" b="1">
                <a:solidFill>
                  <a:srgbClr val="B69BFF"/>
                </a:solidFill>
                <a:latin typeface="Noto Sans CJK SC"/>
              </a:defRPr>
            </a:pPr>
            <a:r>
              <a:t>−48.823%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4776" y="1847088"/>
            <a:ext cx="20574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理想内存调度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4776" y="2084832"/>
            <a:ext cx="20574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80" b="0">
                <a:solidFill>
                  <a:srgbClr val="A7B6CA"/>
                </a:solidFill>
                <a:latin typeface="Noto Sans CJK SC"/>
              </a:defRPr>
            </a:pPr>
            <a:r>
              <a:t>时间变化的内存上界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2788920"/>
            <a:ext cx="54864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F4F7FB"/>
                </a:solidFill>
                <a:latin typeface="Noto Sans CJK SC"/>
              </a:defRPr>
            </a:pPr>
            <a:r>
              <a:t>为什么真实预测器没直接变成安全调度器？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255264"/>
            <a:ext cx="6766560" cy="1481328"/>
          </a:xfrm>
          <a:prstGeom prst="rect">
            <a:avLst/>
          </a:prstGeom>
          <a:noFill/>
        </p:spPr>
        <p:txBody>
          <a:bodyPr wrap="square" lIns="18288" rIns="18288" tIns="9144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F4F7FB"/>
                </a:solidFill>
                <a:latin typeface="Noto Sans CJK SC"/>
              </a:defRPr>
            </a:pPr>
            <a:r>
              <a:t>•  峰值 CPU 不是可持续配额：按峰值太保守，按均值又会重叠爆发</a:t>
            </a:r>
          </a:p>
          <a:p>
            <a:pPr>
              <a:spcAft>
                <a:spcPts val="900"/>
              </a:spcAft>
              <a:defRPr sz="1400">
                <a:solidFill>
                  <a:srgbClr val="F4F7FB"/>
                </a:solidFill>
                <a:latin typeface="Noto Sans CJK SC"/>
              </a:defRPr>
            </a:pPr>
            <a:r>
              <a:t>•  内存三档不等于安全上界；少量低估就可能制造容量暴露</a:t>
            </a:r>
          </a:p>
          <a:p>
            <a:pPr>
              <a:spcAft>
                <a:spcPts val="900"/>
              </a:spcAft>
              <a:defRPr sz="1400">
                <a:solidFill>
                  <a:srgbClr val="F4F7FB"/>
                </a:solidFill>
                <a:latin typeface="Noto Sans CJK SC"/>
              </a:defRPr>
            </a:pPr>
            <a:r>
              <a:t>•  某些命令没有可用预测时，硬性资源准入会让全部任务互相等待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79" y="2816352"/>
            <a:ext cx="3246120" cy="193852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8092440" y="2980944"/>
            <a:ext cx="0" cy="1609344"/>
          </a:xfrm>
          <a:prstGeom prst="line">
            <a:avLst/>
          </a:prstGeom>
          <a:ln w="44450">
            <a:solidFill>
              <a:srgbClr val="32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266175" y="2962656"/>
            <a:ext cx="27889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32D5C4"/>
                </a:solidFill>
                <a:latin typeface="Noto Sans CJK SC"/>
              </a:defRPr>
            </a:pPr>
            <a:r>
              <a:t>正确的研究顺序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3410712"/>
            <a:ext cx="2788920" cy="12252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00" b="0">
                <a:solidFill>
                  <a:srgbClr val="A7B6CA"/>
                </a:solidFill>
                <a:latin typeface="Noto Sans CJK SC"/>
              </a:defRPr>
            </a:pPr>
            <a:r>
              <a:t>1. 先证明动作有上界</a:t>
            </a:r>
            <a:br/>
            <a:r>
              <a:t>2. 再设计不会死锁的反馈控制</a:t>
            </a:r>
            <a:br/>
            <a:r>
              <a:t>3. 最后问预测器是否增加收益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733288"/>
            <a:ext cx="10881360" cy="530352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5879592"/>
            <a:ext cx="1325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50" b="1">
                <a:solidFill>
                  <a:srgbClr val="F4C75B"/>
                </a:solidFill>
                <a:latin typeface="Noto Sans CJK SC"/>
              </a:defRPr>
            </a:pPr>
            <a:r>
              <a:t>这一阶段学到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66543" y="5833872"/>
            <a:ext cx="9144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20" b="1">
                <a:solidFill>
                  <a:srgbClr val="F4F7FB"/>
                </a:solidFill>
                <a:latin typeface="Noto Sans CJK SC"/>
              </a:defRPr>
            </a:pPr>
            <a:r>
              <a:t>调度器需要的是随时间变化的资源轨迹和安全退路，而不是把分类标签当作硬配额。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66928" y="6455664"/>
            <a:ext cx="11064240" cy="0"/>
          </a:xfrm>
          <a:prstGeom prst="line">
            <a:avLst/>
          </a:prstGeom>
          <a:ln w="1016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66928" y="6492240"/>
            <a:ext cx="10972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780" b="0">
                <a:solidFill>
                  <a:srgbClr val="677990"/>
                </a:solidFill>
                <a:latin typeface="Noto Sans CJK SC"/>
              </a:defRPr>
            </a:pPr>
            <a:r>
              <a:t>证据：swe100-277-cpu-feedback-generality-v1；CPU-idle / temporal-RSS oracle results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64008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50" b="1">
                <a:solidFill>
                  <a:srgbClr val="32D5C4"/>
                </a:solidFill>
                <a:latin typeface="Noto Sans CJK SC"/>
              </a:defRPr>
            </a:pPr>
            <a:r>
              <a:t>真实 A100 信号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09728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600" b="1">
                <a:solidFill>
                  <a:srgbClr val="F4F7FB"/>
                </a:solidFill>
                <a:latin typeface="Noto Sans CJK SC"/>
              </a:defRPr>
            </a:pPr>
            <a:r>
              <a:t>阶段 7：工具空档确实能换来约 33% 完成时间收益，但返回尾部变差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51560"/>
            <a:ext cx="11064240" cy="0"/>
          </a:xfrm>
          <a:prstGeom prst="line">
            <a:avLst/>
          </a:prstGeom>
          <a:ln w="1270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20272" y="201168"/>
            <a:ext cx="320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950" b="1">
                <a:solidFill>
                  <a:srgbClr val="677990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53312"/>
            <a:ext cx="804672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F4F7FB"/>
                </a:solidFill>
                <a:latin typeface="Noto Sans CJK SC"/>
              </a:defRPr>
            </a:pPr>
            <a:r>
              <a:t>动作：前台任务进入长工具阶段时，临时放入一个等待任务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1938528"/>
            <a:ext cx="2011680" cy="713232"/>
          </a:xfrm>
          <a:prstGeom prst="roundRect">
            <a:avLst/>
          </a:prstGeom>
          <a:solidFill>
            <a:srgbClr val="62A8FF"/>
          </a:solidFill>
          <a:ln w="12700">
            <a:solidFill>
              <a:srgbClr val="6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157984"/>
            <a:ext cx="201168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400" b="1">
                <a:solidFill>
                  <a:srgbClr val="09111F"/>
                </a:solidFill>
                <a:latin typeface="Noto Sans CJK SC"/>
              </a:defRPr>
            </a:pPr>
            <a:r>
              <a:t>前台：GPU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99232" y="2194560"/>
            <a:ext cx="621792" cy="164592"/>
          </a:xfrm>
          <a:prstGeom prst="rightArrow">
            <a:avLst/>
          </a:prstGeom>
          <a:solidFill>
            <a:srgbClr val="677990"/>
          </a:solidFill>
          <a:ln>
            <a:solidFill>
              <a:srgbClr val="677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03904" y="1938528"/>
            <a:ext cx="2011680" cy="713232"/>
          </a:xfrm>
          <a:prstGeom prst="roundRect">
            <a:avLst/>
          </a:prstGeom>
          <a:solidFill>
            <a:srgbClr val="F4C75B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03904" y="2157984"/>
            <a:ext cx="201168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400" b="1">
                <a:solidFill>
                  <a:srgbClr val="09111F"/>
                </a:solidFill>
                <a:latin typeface="Noto Sans CJK SC"/>
              </a:defRPr>
            </a:pPr>
            <a:r>
              <a:t>前台：工具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98464" y="2194560"/>
            <a:ext cx="621792" cy="164592"/>
          </a:xfrm>
          <a:prstGeom prst="rightArrow">
            <a:avLst/>
          </a:prstGeom>
          <a:solidFill>
            <a:srgbClr val="40D39C"/>
          </a:solidFill>
          <a:ln>
            <a:solidFill>
              <a:srgbClr val="40D3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03136" y="1938528"/>
            <a:ext cx="2057400" cy="713232"/>
          </a:xfrm>
          <a:prstGeom prst="roundRect">
            <a:avLst/>
          </a:prstGeom>
          <a:solidFill>
            <a:srgbClr val="40D39C"/>
          </a:solidFill>
          <a:ln w="12700">
            <a:solidFill>
              <a:srgbClr val="40D3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03136" y="2157984"/>
            <a:ext cx="205740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400" b="1">
                <a:solidFill>
                  <a:srgbClr val="09111F"/>
                </a:solidFill>
                <a:latin typeface="Noto Sans CJK SC"/>
              </a:defRPr>
            </a:pPr>
            <a:r>
              <a:t>借入新任务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43416" y="2194560"/>
            <a:ext cx="621792" cy="164592"/>
          </a:xfrm>
          <a:prstGeom prst="rightArrow">
            <a:avLst/>
          </a:prstGeom>
          <a:solidFill>
            <a:srgbClr val="FF7A85"/>
          </a:solidFill>
          <a:ln>
            <a:solidFill>
              <a:srgbClr val="FF7A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848088" y="1938528"/>
            <a:ext cx="1600200" cy="713232"/>
          </a:xfrm>
          <a:prstGeom prst="roundRect">
            <a:avLst/>
          </a:prstGeom>
          <a:solidFill>
            <a:srgbClr val="FF7A85"/>
          </a:solidFill>
          <a:ln w="12700">
            <a:solidFill>
              <a:srgbClr val="FF7A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48088" y="2157984"/>
            <a:ext cx="160020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400" b="1">
                <a:solidFill>
                  <a:srgbClr val="09111F"/>
                </a:solidFill>
                <a:latin typeface="Noto Sans CJK SC"/>
              </a:defRPr>
            </a:pPr>
            <a:r>
              <a:t>一起返回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218688"/>
            <a:ext cx="2331720" cy="102412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328416"/>
            <a:ext cx="205740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300" b="1">
                <a:solidFill>
                  <a:srgbClr val="40D39C"/>
                </a:solidFill>
                <a:latin typeface="Noto Sans CJK SC"/>
              </a:defRPr>
            </a:pPr>
            <a:r>
              <a:t>−32.748%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3712464"/>
            <a:ext cx="20574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平均完成时间 · r1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73552" y="3218688"/>
            <a:ext cx="2331720" cy="102412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0712" y="3328416"/>
            <a:ext cx="205740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300" b="1">
                <a:solidFill>
                  <a:srgbClr val="40D39C"/>
                </a:solidFill>
                <a:latin typeface="Noto Sans CJK SC"/>
              </a:defRPr>
            </a:pPr>
            <a:r>
              <a:t>−33.102%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712464"/>
            <a:ext cx="20574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平均完成时间 · r2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97296" y="3218688"/>
            <a:ext cx="2331720" cy="102412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34456" y="3328416"/>
            <a:ext cx="205740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300" b="1">
                <a:solidFill>
                  <a:srgbClr val="F4C75B"/>
                </a:solidFill>
                <a:latin typeface="Noto Sans CJK SC"/>
              </a:defRPr>
            </a:pPr>
            <a:r>
              <a:t>1.048×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34456" y="3712464"/>
            <a:ext cx="20574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最慢 1% 首字 · r1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34456" y="3950208"/>
            <a:ext cx="20574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80" b="0">
                <a:solidFill>
                  <a:srgbClr val="A7B6CA"/>
                </a:solidFill>
                <a:latin typeface="Noto Sans CJK SC"/>
              </a:defRPr>
            </a:pPr>
            <a:r>
              <a:t>预设上限 1.05×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21040" y="3218688"/>
            <a:ext cx="2331720" cy="102412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3328416"/>
            <a:ext cx="205740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300" b="1">
                <a:solidFill>
                  <a:srgbClr val="FF7A85"/>
                </a:solidFill>
                <a:latin typeface="Noto Sans CJK SC"/>
              </a:defRPr>
            </a:pPr>
            <a:r>
              <a:t>1.115×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712464"/>
            <a:ext cx="20574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最慢 1% 首字 · r2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950208"/>
            <a:ext cx="20574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880" b="0">
                <a:solidFill>
                  <a:srgbClr val="A7B6CA"/>
                </a:solidFill>
                <a:latin typeface="Noto Sans CJK SC"/>
              </a:defRPr>
            </a:pPr>
            <a:r>
              <a:t>未通过尾部标准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681728"/>
            <a:ext cx="101498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420" b="0">
                <a:solidFill>
                  <a:srgbClr val="A7B6CA"/>
                </a:solidFill>
                <a:latin typeface="Noto Sans CJK SC"/>
              </a:defRPr>
            </a:pPr>
            <a:r>
              <a:t>静态预测没触发：最高时长档从 30 s 开始，但动作需要 &gt;34.7 s 才值得。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733288"/>
            <a:ext cx="10881360" cy="530352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5879592"/>
            <a:ext cx="1325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50" b="1">
                <a:solidFill>
                  <a:srgbClr val="F4C75B"/>
                </a:solidFill>
                <a:latin typeface="Noto Sans CJK SC"/>
              </a:defRPr>
            </a:pPr>
            <a:r>
              <a:t>这一阶段学到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66543" y="5833872"/>
            <a:ext cx="9144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20" b="1">
                <a:solidFill>
                  <a:srgbClr val="F4F7FB"/>
                </a:solidFill>
                <a:latin typeface="Noto Sans CJK SC"/>
              </a:defRPr>
            </a:pPr>
            <a:r>
              <a:t>空档借用是有效动作；下一步不是再预测时长，而是保护前台任务返回时的 GPU 服务。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66928" y="6455664"/>
            <a:ext cx="11064240" cy="0"/>
          </a:xfrm>
          <a:prstGeom prst="line">
            <a:avLst/>
          </a:prstGeom>
          <a:ln w="1016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66928" y="6492240"/>
            <a:ext cx="10972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780" b="0">
                <a:solidFill>
                  <a:srgbClr val="677990"/>
                </a:solidFill>
                <a:latin typeface="Noto Sans CJK SC"/>
              </a:defRPr>
            </a:pPr>
            <a:r>
              <a:t>证据：analysis/results/pennylane-physical-gap-loan-development-v1/result.json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64008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50" b="1">
                <a:solidFill>
                  <a:srgbClr val="32D5C4"/>
                </a:solidFill>
                <a:latin typeface="Noto Sans CJK SC"/>
              </a:defRPr>
            </a:pPr>
            <a:r>
              <a:t>联合调度上界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09728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600" b="1">
                <a:solidFill>
                  <a:srgbClr val="F4F7FB"/>
                </a:solidFill>
                <a:latin typeface="Noto Sans CJK SC"/>
              </a:defRPr>
            </a:pPr>
            <a:r>
              <a:t>阶段 8：最大的机会来自 CPU 与 GPU 阶段错开，而不是只调一个资源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51560"/>
            <a:ext cx="11064240" cy="0"/>
          </a:xfrm>
          <a:prstGeom prst="line">
            <a:avLst/>
          </a:prstGeom>
          <a:ln w="1270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20272" y="201168"/>
            <a:ext cx="320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950" b="1">
                <a:solidFill>
                  <a:srgbClr val="677990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53312"/>
            <a:ext cx="64008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F4F7FB"/>
                </a:solidFill>
                <a:latin typeface="Noto Sans CJK SC"/>
              </a:defRPr>
            </a:pPr>
            <a:r>
              <a:t>PennyLane 70 tasks · 理想上界 · 平均完成时间（越低越好）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15087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30" b="0">
                <a:solidFill>
                  <a:srgbClr val="A7B6CA"/>
                </a:solidFill>
                <a:latin typeface="Noto Sans CJK SC"/>
              </a:defRPr>
            </a:pPr>
            <a:r>
              <a:t>只按 GPU 限制</a:t>
            </a:r>
          </a:p>
        </p:txBody>
      </p:sp>
      <p:sp>
        <p:nvSpPr>
          <p:cNvPr id="8" name="Rectangle 7"/>
          <p:cNvSpPr/>
          <p:nvPr/>
        </p:nvSpPr>
        <p:spPr>
          <a:xfrm>
            <a:off x="2350008" y="1892807"/>
            <a:ext cx="4114800" cy="228600"/>
          </a:xfrm>
          <a:prstGeom prst="rect">
            <a:avLst/>
          </a:prstGeom>
          <a:solidFill>
            <a:srgbClr val="17263D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50008" y="1892807"/>
            <a:ext cx="3864474" cy="228600"/>
          </a:xfrm>
          <a:prstGeom prst="rect">
            <a:avLst/>
          </a:prstGeom>
          <a:solidFill>
            <a:srgbClr val="FF7A85"/>
          </a:solidFill>
          <a:ln w="12700">
            <a:solidFill>
              <a:srgbClr val="FF7A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74536" y="1847088"/>
            <a:ext cx="658368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FF7A85"/>
                </a:solidFill>
                <a:latin typeface="Noto Sans CJK SC"/>
              </a:defRPr>
            </a:pPr>
            <a:r>
              <a:t>79,829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551176"/>
            <a:ext cx="15087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30" b="0">
                <a:solidFill>
                  <a:srgbClr val="A7B6CA"/>
                </a:solidFill>
                <a:latin typeface="Noto Sans CJK SC"/>
              </a:defRPr>
            </a:pPr>
            <a:r>
              <a:t>只按工具限制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50008" y="2578608"/>
            <a:ext cx="4114800" cy="228600"/>
          </a:xfrm>
          <a:prstGeom prst="rect">
            <a:avLst/>
          </a:prstGeom>
          <a:solidFill>
            <a:srgbClr val="17263D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50008" y="2578608"/>
            <a:ext cx="1050726" cy="228600"/>
          </a:xfrm>
          <a:prstGeom prst="rect">
            <a:avLst/>
          </a:prstGeom>
          <a:solidFill>
            <a:srgbClr val="F4C75B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4536" y="2532888"/>
            <a:ext cx="658368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F4C75B"/>
                </a:solidFill>
                <a:latin typeface="Noto Sans CJK SC"/>
              </a:defRPr>
            </a:pPr>
            <a:r>
              <a:t>21,705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36976"/>
            <a:ext cx="150876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30" b="0">
                <a:solidFill>
                  <a:srgbClr val="A7B6CA"/>
                </a:solidFill>
                <a:latin typeface="Noto Sans CJK SC"/>
              </a:defRPr>
            </a:pPr>
            <a:r>
              <a:t>联合看阶段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50008" y="3264408"/>
            <a:ext cx="4114800" cy="228600"/>
          </a:xfrm>
          <a:prstGeom prst="rect">
            <a:avLst/>
          </a:prstGeom>
          <a:solidFill>
            <a:srgbClr val="17263D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50008" y="3264408"/>
            <a:ext cx="682572" cy="228600"/>
          </a:xfrm>
          <a:prstGeom prst="rect">
            <a:avLst/>
          </a:prstGeom>
          <a:solidFill>
            <a:srgbClr val="40D39C"/>
          </a:solidFill>
          <a:ln w="12700">
            <a:solidFill>
              <a:srgbClr val="40D3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3218688"/>
            <a:ext cx="658368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40D39C"/>
                </a:solidFill>
                <a:latin typeface="Noto Sans CJK SC"/>
              </a:defRPr>
            </a:pPr>
            <a:r>
              <a:t>14,100 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1371600"/>
            <a:ext cx="3474720" cy="123444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818120" y="1536192"/>
            <a:ext cx="0" cy="905256"/>
          </a:xfrm>
          <a:prstGeom prst="line">
            <a:avLst/>
          </a:prstGeom>
          <a:ln w="44450">
            <a:solidFill>
              <a:srgbClr val="40D3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991856" y="1517904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40D39C"/>
                </a:solidFill>
                <a:latin typeface="Noto Sans CJK SC"/>
              </a:defRPr>
            </a:pPr>
            <a:r>
              <a:t>不是把并发固定得更大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1856" y="1965960"/>
            <a:ext cx="3017520" cy="5212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10" b="0">
                <a:solidFill>
                  <a:srgbClr val="A7B6CA"/>
                </a:solidFill>
                <a:latin typeface="Noto Sans CJK SC"/>
              </a:defRPr>
            </a:pPr>
            <a:r>
              <a:t>联合上界最多同时放入 11 个任务，但每个资源仍不超容量。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2834640"/>
            <a:ext cx="3474720" cy="123444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7818120" y="2999232"/>
            <a:ext cx="0" cy="905256"/>
          </a:xfrm>
          <a:prstGeom prst="line">
            <a:avLst/>
          </a:prstGeom>
          <a:ln w="44450">
            <a:solidFill>
              <a:srgbClr val="32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91856" y="2980944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32D5C4"/>
                </a:solidFill>
                <a:latin typeface="Noto Sans CJK SC"/>
              </a:defRPr>
            </a:pPr>
            <a:r>
              <a:t>而是让不同阶段互补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91856" y="3429000"/>
            <a:ext cx="3017520" cy="5212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10" b="0">
                <a:solidFill>
                  <a:srgbClr val="A7B6CA"/>
                </a:solidFill>
                <a:latin typeface="Noto Sans CJK SC"/>
              </a:defRPr>
            </a:pPr>
            <a:r>
              <a:t>GPU 忙时少放推理；GPU 空时让 CPU 工具继续推进。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51560" y="4434840"/>
            <a:ext cx="1417320" cy="310896"/>
          </a:xfrm>
          <a:prstGeom prst="roundRect">
            <a:avLst/>
          </a:prstGeom>
          <a:solidFill>
            <a:srgbClr val="62A8FF"/>
          </a:solidFill>
          <a:ln w="12700">
            <a:solidFill>
              <a:srgbClr val="6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453127"/>
            <a:ext cx="1325880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defRPr sz="1019" b="1">
                <a:solidFill>
                  <a:srgbClr val="09111F"/>
                </a:solidFill>
                <a:latin typeface="Noto Sans CJK SC"/>
              </a:defRPr>
            </a:pPr>
            <a:r>
              <a:t>GPU 17.3%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0" y="4434840"/>
            <a:ext cx="1417320" cy="310896"/>
          </a:xfrm>
          <a:prstGeom prst="roundRect">
            <a:avLst/>
          </a:prstGeom>
          <a:solidFill>
            <a:srgbClr val="F4C75B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88920" y="4453127"/>
            <a:ext cx="1325880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defRPr sz="1019" b="1">
                <a:solidFill>
                  <a:srgbClr val="09111F"/>
                </a:solidFill>
                <a:latin typeface="Noto Sans CJK SC"/>
              </a:defRPr>
            </a:pPr>
            <a:r>
              <a:t>CPU 37.7%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34840" y="4434840"/>
            <a:ext cx="1417320" cy="310896"/>
          </a:xfrm>
          <a:prstGeom prst="roundRect">
            <a:avLst/>
          </a:prstGeom>
          <a:solidFill>
            <a:srgbClr val="B69BFF"/>
          </a:solidFill>
          <a:ln w="12700">
            <a:solidFill>
              <a:srgbClr val="B6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59" y="4453127"/>
            <a:ext cx="1325880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spAutoFit/>
          </a:bodyPr>
          <a:lstStyle/>
          <a:p>
            <a:pPr algn="ctr">
              <a:defRPr sz="1019" b="1">
                <a:solidFill>
                  <a:srgbClr val="09111F"/>
                </a:solidFill>
                <a:latin typeface="Noto Sans CJK SC"/>
              </a:defRPr>
            </a:pPr>
            <a:r>
              <a:t>内存 14.2%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40" y="4462272"/>
            <a:ext cx="41605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50" b="1">
                <a:solidFill>
                  <a:srgbClr val="FF7A85"/>
                </a:solidFill>
                <a:latin typeface="Noto Sans CJK SC"/>
              </a:defRPr>
            </a:pPr>
            <a:r>
              <a:t>这些仍是 trace 回放上界，不是实机 GPU 结论。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733288"/>
            <a:ext cx="10881360" cy="530352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" y="5879592"/>
            <a:ext cx="1325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50" b="1">
                <a:solidFill>
                  <a:srgbClr val="F4C75B"/>
                </a:solidFill>
                <a:latin typeface="Noto Sans CJK SC"/>
              </a:defRPr>
            </a:pPr>
            <a:r>
              <a:t>这一阶段学到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66543" y="5833872"/>
            <a:ext cx="9144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20" b="1">
                <a:solidFill>
                  <a:srgbClr val="F4F7FB"/>
                </a:solidFill>
                <a:latin typeface="Noto Sans CJK SC"/>
              </a:defRPr>
            </a:pPr>
            <a:r>
              <a:t>真正的 frontier 是跨资源阶段协调：准入、优先级与状态保留必须一起看。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66928" y="6455664"/>
            <a:ext cx="11064240" cy="0"/>
          </a:xfrm>
          <a:prstGeom prst="line">
            <a:avLst/>
          </a:prstGeom>
          <a:ln w="1016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6928" y="6492240"/>
            <a:ext cx="10972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780" b="0">
                <a:solidFill>
                  <a:srgbClr val="677990"/>
                </a:solidFill>
                <a:latin typeface="Noto Sans CJK SC"/>
              </a:defRPr>
            </a:pPr>
            <a:r>
              <a:t>证据：analysis/results/pennylane-joint-phase-packing-v1/result.json；数值为知道未来的理想上界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64008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50" b="1">
                <a:solidFill>
                  <a:srgbClr val="32D5C4"/>
                </a:solidFill>
                <a:latin typeface="Noto Sans CJK SC"/>
              </a:defRPr>
            </a:pPr>
            <a:r>
              <a:t>关闭支线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09728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600" b="1">
                <a:solidFill>
                  <a:srgbClr val="F4F7FB"/>
                </a:solidFill>
                <a:latin typeface="Noto Sans CJK SC"/>
              </a:defRPr>
            </a:pPr>
            <a:r>
              <a:t>阶段 9：理想上界也没收益，方向才真正关闭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51560"/>
            <a:ext cx="11064240" cy="0"/>
          </a:xfrm>
          <a:prstGeom prst="line">
            <a:avLst/>
          </a:prstGeom>
          <a:ln w="1270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20272" y="201168"/>
            <a:ext cx="320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950" b="1">
                <a:solidFill>
                  <a:srgbClr val="677990"/>
                </a:solidFill>
                <a:latin typeface="Noto Sans CJK SC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298448"/>
            <a:ext cx="3429000" cy="155448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50392" y="1463039"/>
            <a:ext cx="0" cy="1225297"/>
          </a:xfrm>
          <a:prstGeom prst="line">
            <a:avLst/>
          </a:prstGeom>
          <a:ln w="44450">
            <a:solidFill>
              <a:srgbClr val="FF7A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24128" y="1444751"/>
            <a:ext cx="29718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FF7A85"/>
                </a:solidFill>
                <a:latin typeface="Noto Sans CJK SC"/>
              </a:defRPr>
            </a:pPr>
            <a:r>
              <a:t>容器暂停 / 快照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892807"/>
            <a:ext cx="2971800" cy="841247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80" b="0">
                <a:solidFill>
                  <a:srgbClr val="A7B6CA"/>
                </a:solidFill>
                <a:latin typeface="Noto Sans CJK SC"/>
              </a:defRPr>
            </a:pPr>
            <a:r>
              <a:t>即使假设暂停与恢复完全免费，平均完成时间仍恶化 2.664%。只释放 3.178% CPU 时间、1.316% 内存时间。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98448"/>
            <a:ext cx="3429000" cy="155448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507992" y="1463039"/>
            <a:ext cx="0" cy="1225297"/>
          </a:xfrm>
          <a:prstGeom prst="line">
            <a:avLst/>
          </a:prstGeom>
          <a:ln w="44450">
            <a:solidFill>
              <a:srgbClr val="FF7A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681728" y="1444751"/>
            <a:ext cx="29718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FF7A85"/>
                </a:solidFill>
                <a:latin typeface="Noto Sans CJK SC"/>
              </a:defRPr>
            </a:pPr>
            <a:r>
              <a:t>静态资源档位准入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1892807"/>
            <a:ext cx="2971800" cy="841247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80" b="0">
                <a:solidFill>
                  <a:srgbClr val="A7B6CA"/>
                </a:solidFill>
                <a:latin typeface="Noto Sans CJK SC"/>
              </a:defRPr>
            </a:pPr>
            <a:r>
              <a:t>更准的内存分类仍出现大量容量暴露；两种因果映射方式在 307 s 互相等待。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298448"/>
            <a:ext cx="3429000" cy="155448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8165592" y="1463039"/>
            <a:ext cx="0" cy="1225297"/>
          </a:xfrm>
          <a:prstGeom prst="line">
            <a:avLst/>
          </a:prstGeom>
          <a:ln w="44450">
            <a:solidFill>
              <a:srgbClr val="6779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339327" y="1444751"/>
            <a:ext cx="29718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677990"/>
                </a:solidFill>
                <a:latin typeface="Noto Sans CJK SC"/>
              </a:defRPr>
            </a:pPr>
            <a:r>
              <a:t>工具时长优先级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1892807"/>
            <a:ext cx="2971800" cy="841247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80" b="0">
                <a:solidFill>
                  <a:srgbClr val="A7B6CA"/>
                </a:solidFill>
                <a:latin typeface="Noto Sans CJK SC"/>
              </a:defRPr>
            </a:pPr>
            <a:r>
              <a:t>即使知道真实工具时长，短工具优先也只改善 0.435%；学出来只会更低。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218688"/>
            <a:ext cx="3429000" cy="155448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850392" y="3383280"/>
            <a:ext cx="0" cy="1225296"/>
          </a:xfrm>
          <a:prstGeom prst="line">
            <a:avLst/>
          </a:prstGeom>
          <a:ln w="44450">
            <a:solidFill>
              <a:srgbClr val="6779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24128" y="3364992"/>
            <a:ext cx="29718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677990"/>
                </a:solidFill>
                <a:latin typeface="Noto Sans CJK SC"/>
              </a:defRPr>
            </a:pPr>
            <a:r>
              <a:t>CacheWise / C100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813048"/>
            <a:ext cx="2971800" cy="841247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80" b="0">
                <a:solidFill>
                  <a:srgbClr val="A7B6CA"/>
                </a:solidFill>
                <a:latin typeface="Noto Sans CJK SC"/>
              </a:defRPr>
            </a:pPr>
            <a:r>
              <a:t>在当前模拟器中，预测只减少 1.481% 的 KV 重算；知道未来的上界也仅 9.620%。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218688"/>
            <a:ext cx="3429000" cy="155448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507992" y="3383280"/>
            <a:ext cx="0" cy="1225296"/>
          </a:xfrm>
          <a:prstGeom prst="line">
            <a:avLst/>
          </a:prstGeom>
          <a:ln w="44450">
            <a:solidFill>
              <a:srgbClr val="6779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81728" y="3364992"/>
            <a:ext cx="29718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677990"/>
                </a:solidFill>
                <a:latin typeface="Noto Sans CJK SC"/>
              </a:defRPr>
            </a:pPr>
            <a:r>
              <a:t>通用 agent 规则生成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1728" y="3813048"/>
            <a:ext cx="2971800" cy="841247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80" b="0">
                <a:solidFill>
                  <a:srgbClr val="A7B6CA"/>
                </a:solidFill>
                <a:latin typeface="Noto Sans CJK SC"/>
              </a:defRPr>
            </a:pPr>
            <a:r>
              <a:t>复杂输出没有创造新的可辨识状态，却增加泄漏、运行成本和验证成本。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1" y="3218688"/>
            <a:ext cx="3429000" cy="155448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165592" y="3383280"/>
            <a:ext cx="0" cy="1225296"/>
          </a:xfrm>
          <a:prstGeom prst="line">
            <a:avLst/>
          </a:prstGeom>
          <a:ln w="44450">
            <a:solidFill>
              <a:srgbClr val="F4C7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339327" y="3364992"/>
            <a:ext cx="29718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F4C75B"/>
                </a:solidFill>
                <a:latin typeface="Noto Sans CJK SC"/>
              </a:defRPr>
            </a:pPr>
            <a:r>
              <a:t>本轮 vLLM 原生优先级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3813048"/>
            <a:ext cx="2971800" cy="841247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80" b="0">
                <a:solidFill>
                  <a:srgbClr val="A7B6CA"/>
                </a:solidFill>
                <a:latin typeface="Noto Sans CJK SC"/>
              </a:defRPr>
            </a:pPr>
            <a:r>
              <a:t>目前没有正式结果：前两组有效，第三组仅辅助 GPU 采样间隔超限。不能从中声称方法失败。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733288"/>
            <a:ext cx="10881360" cy="530352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5879592"/>
            <a:ext cx="1325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50" b="1">
                <a:solidFill>
                  <a:srgbClr val="F4C75B"/>
                </a:solidFill>
                <a:latin typeface="Noto Sans CJK SC"/>
              </a:defRPr>
            </a:pPr>
            <a:r>
              <a:t>这一阶段学到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66543" y="5833872"/>
            <a:ext cx="9144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20" b="1">
                <a:solidFill>
                  <a:srgbClr val="F4F7FB"/>
                </a:solidFill>
                <a:latin typeface="Noto Sans CJK SC"/>
              </a:defRPr>
            </a:pPr>
            <a:r>
              <a:t>只有“理想上界也没收益”的方向才真正关闭；框架无效不能当作方法无效。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66928" y="6455664"/>
            <a:ext cx="11064240" cy="0"/>
          </a:xfrm>
          <a:prstGeom prst="line">
            <a:avLst/>
          </a:prstGeom>
          <a:ln w="1016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66928" y="6492240"/>
            <a:ext cx="10972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780" b="0">
                <a:solidFill>
                  <a:srgbClr val="677990"/>
                </a:solidFill>
                <a:latin typeface="Noto Sans CJK SC"/>
              </a:defRPr>
            </a:pPr>
            <a:r>
              <a:t>证据：perfect-container-parking、joint causal admission、revocable lease 与 canonical objective 结果表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64008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50" b="1">
                <a:solidFill>
                  <a:srgbClr val="32D5C4"/>
                </a:solidFill>
                <a:latin typeface="Noto Sans CJK SC"/>
              </a:defRPr>
            </a:pPr>
            <a:r>
              <a:t>Related work：先划清边界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09728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600" b="1">
                <a:solidFill>
                  <a:srgbClr val="F4F7FB"/>
                </a:solidFill>
                <a:latin typeface="Noto Sans CJK SC"/>
              </a:defRPr>
            </a:pPr>
            <a:r>
              <a:t>三个相关工作已覆盖很多“显而易见”的动作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51560"/>
            <a:ext cx="11064240" cy="0"/>
          </a:xfrm>
          <a:prstGeom prst="line">
            <a:avLst/>
          </a:prstGeom>
          <a:ln w="1270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20272" y="201168"/>
            <a:ext cx="320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950" b="1">
                <a:solidFill>
                  <a:srgbClr val="677990"/>
                </a:solidFill>
                <a:latin typeface="Noto Sans CJK SC"/>
              </a:defRPr>
            </a:pPr>
            <a: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298448"/>
            <a:ext cx="3520440" cy="361188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22960" y="1463039"/>
            <a:ext cx="0" cy="3282697"/>
          </a:xfrm>
          <a:prstGeom prst="line">
            <a:avLst/>
          </a:prstGeom>
          <a:ln w="44450">
            <a:solidFill>
              <a:srgbClr val="32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6" y="1444751"/>
            <a:ext cx="30632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32D5C4"/>
                </a:solidFill>
                <a:latin typeface="Noto Sans CJK SC"/>
              </a:defRPr>
            </a:pPr>
            <a:r>
              <a:t>Continuum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" y="1892807"/>
            <a:ext cx="3063240" cy="28986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10" b="0">
                <a:solidFill>
                  <a:srgbClr val="A7B6CA"/>
                </a:solidFill>
                <a:latin typeface="Noto Sans CJK SC"/>
              </a:defRPr>
            </a:pPr>
            <a:r>
              <a:t>看见工具调用后，为 GPU 中间状态设置保留期限。</a:t>
            </a:r>
            <a:br/>
            <a:br/>
            <a:r>
              <a:t>期限由工具历史、重算/重载成本和排队代价决定；到期就释放，避免无限占用。</a:t>
            </a:r>
            <a:br/>
            <a:br/>
            <a:r>
              <a:t>已经覆盖：工具空档中的 KV 保留。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98448"/>
            <a:ext cx="3520440" cy="361188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480560" y="1463039"/>
            <a:ext cx="0" cy="3282697"/>
          </a:xfrm>
          <a:prstGeom prst="line">
            <a:avLst/>
          </a:prstGeom>
          <a:ln w="44450">
            <a:solidFill>
              <a:srgbClr val="F4C7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654296" y="1444751"/>
            <a:ext cx="30632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F4C75B"/>
                </a:solidFill>
                <a:latin typeface="Noto Sans CJK SC"/>
              </a:defRPr>
            </a:pPr>
            <a:r>
              <a:t>ThunderAgent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1892807"/>
            <a:ext cx="3063240" cy="28986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10" b="0">
                <a:solidFill>
                  <a:srgbClr val="A7B6CA"/>
                </a:solidFill>
                <a:latin typeface="Noto Sans CJK SC"/>
              </a:defRPr>
            </a:pPr>
            <a:r>
              <a:t>把完整 agent program 作为调度单位，区分推理/工具阶段。</a:t>
            </a:r>
            <a:br/>
            <a:br/>
            <a:r>
              <a:t>按工具已运行时间降低其 KV 优先级，并做跨 GPU 恢复、迁移和工具环境准备。</a:t>
            </a:r>
            <a:br/>
            <a:br/>
            <a:r>
              <a:t>已经覆盖：阶段感知 + 状态生命周期。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298448"/>
            <a:ext cx="3520440" cy="361188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8138160" y="1463039"/>
            <a:ext cx="0" cy="3282697"/>
          </a:xfrm>
          <a:prstGeom prst="line">
            <a:avLst/>
          </a:prstGeom>
          <a:ln w="44450">
            <a:solidFill>
              <a:srgbClr val="B6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311896" y="1444751"/>
            <a:ext cx="30632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B69BFF"/>
                </a:solidFill>
                <a:latin typeface="Noto Sans CJK SC"/>
              </a:defRPr>
            </a:pPr>
            <a:r>
              <a:t>Agentix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1896" y="1892807"/>
            <a:ext cx="3063240" cy="28986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10" b="0">
                <a:solidFill>
                  <a:srgbClr val="A7B6CA"/>
                </a:solidFill>
                <a:latin typeface="Noto Sans CJK SC"/>
              </a:defRPr>
            </a:pPr>
            <a:r>
              <a:t>截获完整程序的 LLM 调用，按已完成服务量或关键路径调度。</a:t>
            </a:r>
            <a:br/>
            <a:br/>
            <a:r>
              <a:t>长请求偏向原模型副本保留局部性；短请求发到较空副本。</a:t>
            </a:r>
            <a:br/>
            <a:br/>
            <a:r>
              <a:t>已经覆盖：程序级优先级 + 到达后的路由。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733288"/>
            <a:ext cx="10881360" cy="530352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879592"/>
            <a:ext cx="1325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50" b="1">
                <a:solidFill>
                  <a:srgbClr val="F4C75B"/>
                </a:solidFill>
                <a:latin typeface="Noto Sans CJK SC"/>
              </a:defRPr>
            </a:pPr>
            <a:r>
              <a:t>这一阶段学到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66543" y="5833872"/>
            <a:ext cx="9144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20" b="1">
                <a:solidFill>
                  <a:srgbClr val="F4F7FB"/>
                </a:solidFill>
                <a:latin typeface="Noto Sans CJK SC"/>
              </a:defRPr>
            </a:pPr>
            <a:r>
              <a:t>“看工具阶段”“保留 KV”“按 program 排队”“KV-local 路由”都不能再作为我们的新贡献。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6455664"/>
            <a:ext cx="11064240" cy="0"/>
          </a:xfrm>
          <a:prstGeom prst="line">
            <a:avLst/>
          </a:prstGeom>
          <a:ln w="1016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6492240"/>
            <a:ext cx="10972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780" b="0">
                <a:solidFill>
                  <a:srgbClr val="677990"/>
                </a:solidFill>
                <a:latin typeface="Noto Sans CJK SC"/>
              </a:defRPr>
            </a:pPr>
            <a:r>
              <a:t>Continuum arXiv:2511.02230 · ThunderAgent arXiv:2602.13692v3 · Agentix NSDI'26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64008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50" b="1">
                <a:solidFill>
                  <a:srgbClr val="32D5C4"/>
                </a:solidFill>
                <a:latin typeface="Noto Sans CJK SC"/>
              </a:defRPr>
            </a:pPr>
            <a:r>
              <a:t>交叉与候选贡献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09728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600" b="1">
                <a:solidFill>
                  <a:srgbClr val="F4F7FB"/>
                </a:solidFill>
                <a:latin typeface="Noto Sans CJK SC"/>
              </a:defRPr>
            </a:pPr>
            <a:r>
              <a:t>我们的可检验差异，只剩“工具内部进度能否让动作更好”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51560"/>
            <a:ext cx="11064240" cy="0"/>
          </a:xfrm>
          <a:prstGeom prst="line">
            <a:avLst/>
          </a:prstGeom>
          <a:ln w="1270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20272" y="201168"/>
            <a:ext cx="320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950" b="1">
                <a:solidFill>
                  <a:srgbClr val="677990"/>
                </a:solidFill>
                <a:latin typeface="Noto Sans CJK SC"/>
              </a:defRPr>
            </a:pPr>
            <a: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3401568" cy="475488"/>
          </a:xfrm>
          <a:prstGeom prst="rect">
            <a:avLst/>
          </a:prstGeom>
          <a:solidFill>
            <a:srgbClr val="17263D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453896"/>
            <a:ext cx="3328416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信息 / 动作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325880"/>
            <a:ext cx="1463040" cy="475488"/>
          </a:xfrm>
          <a:prstGeom prst="rect">
            <a:avLst/>
          </a:prstGeom>
          <a:solidFill>
            <a:srgbClr val="17263D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42816" y="1453896"/>
            <a:ext cx="138988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Continuum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325880"/>
            <a:ext cx="1737360" cy="475488"/>
          </a:xfrm>
          <a:prstGeom prst="rect">
            <a:avLst/>
          </a:prstGeom>
          <a:solidFill>
            <a:srgbClr val="17263D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43016" y="1453896"/>
            <a:ext cx="1664207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ThunderAgent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1325880"/>
            <a:ext cx="1417320" cy="475488"/>
          </a:xfrm>
          <a:prstGeom prst="rect">
            <a:avLst/>
          </a:prstGeom>
          <a:solidFill>
            <a:srgbClr val="17263D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63255" y="1453896"/>
            <a:ext cx="134416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Agentix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81160" y="1325880"/>
            <a:ext cx="2148840" cy="475488"/>
          </a:xfrm>
          <a:prstGeom prst="rect">
            <a:avLst/>
          </a:prstGeom>
          <a:solidFill>
            <a:srgbClr val="17263D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17736" y="1453896"/>
            <a:ext cx="2075688" cy="2286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50" b="1">
                <a:solidFill>
                  <a:srgbClr val="F4F7FB"/>
                </a:solidFill>
                <a:latin typeface="Noto Sans CJK SC"/>
              </a:defRPr>
            </a:pPr>
            <a:r>
              <a:t>我们的位置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1801368"/>
            <a:ext cx="3401568" cy="594360"/>
          </a:xfrm>
          <a:prstGeom prst="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1956816"/>
            <a:ext cx="32918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F4F7FB"/>
                </a:solidFill>
                <a:latin typeface="Noto Sans CJK SC"/>
              </a:defRPr>
            </a:pPr>
            <a:r>
              <a:t>外层工具名 / 已运行时间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1801368"/>
            <a:ext cx="1463040" cy="594360"/>
          </a:xfrm>
          <a:prstGeom prst="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61103" y="1956816"/>
            <a:ext cx="135331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F4F7FB"/>
                </a:solidFill>
                <a:latin typeface="Noto Sans CJK SC"/>
              </a:defRPr>
            </a:pPr>
            <a: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06440" y="1801368"/>
            <a:ext cx="1737360" cy="594360"/>
          </a:xfrm>
          <a:prstGeom prst="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61303" y="1956816"/>
            <a:ext cx="1627631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F4F7FB"/>
                </a:solidFill>
                <a:latin typeface="Noto Sans CJK SC"/>
              </a:defRPr>
            </a:pPr>
            <a:r>
              <a:t>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26679" y="1801368"/>
            <a:ext cx="1417320" cy="594360"/>
          </a:xfrm>
          <a:prstGeom prst="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81544" y="1956816"/>
            <a:ext cx="130759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A7B6CA"/>
                </a:solidFill>
                <a:latin typeface="Noto Sans CJK SC"/>
              </a:defRPr>
            </a:pPr>
            <a: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81160" y="1801368"/>
            <a:ext cx="2148840" cy="594360"/>
          </a:xfrm>
          <a:prstGeom prst="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36024" y="1956816"/>
            <a:ext cx="203911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A7B6CA"/>
                </a:solidFill>
                <a:latin typeface="Noto Sans CJK SC"/>
              </a:defRPr>
            </a:pPr>
            <a:r>
              <a:t>已有对照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395728"/>
            <a:ext cx="3401568" cy="594360"/>
          </a:xfrm>
          <a:prstGeom prst="rect">
            <a:avLst/>
          </a:prstGeom>
          <a:solidFill>
            <a:srgbClr val="09111F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2551176"/>
            <a:ext cx="32918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F4F7FB"/>
                </a:solidFill>
                <a:latin typeface="Noto Sans CJK SC"/>
              </a:defRPr>
            </a:pPr>
            <a:r>
              <a:t>程序级排队 / 到达后路由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2395728"/>
            <a:ext cx="1463040" cy="594360"/>
          </a:xfrm>
          <a:prstGeom prst="rect">
            <a:avLst/>
          </a:prstGeom>
          <a:solidFill>
            <a:srgbClr val="09111F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61103" y="2551176"/>
            <a:ext cx="135331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F4F7FB"/>
                </a:solidFill>
                <a:latin typeface="Noto Sans CJK SC"/>
              </a:defRPr>
            </a:pPr>
            <a:r>
              <a:t>先来先服务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2395728"/>
            <a:ext cx="1737360" cy="594360"/>
          </a:xfrm>
          <a:prstGeom prst="rect">
            <a:avLst/>
          </a:prstGeom>
          <a:solidFill>
            <a:srgbClr val="09111F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61303" y="2551176"/>
            <a:ext cx="1627631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F4F7FB"/>
                </a:solidFill>
                <a:latin typeface="Noto Sans CJK SC"/>
              </a:defRPr>
            </a:pPr>
            <a: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26679" y="2395728"/>
            <a:ext cx="1417320" cy="594360"/>
          </a:xfrm>
          <a:prstGeom prst="rect">
            <a:avLst/>
          </a:prstGeom>
          <a:solidFill>
            <a:srgbClr val="09111F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81544" y="2551176"/>
            <a:ext cx="130759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F4F7FB"/>
                </a:solidFill>
                <a:latin typeface="Noto Sans CJK SC"/>
              </a:defRPr>
            </a:pPr>
            <a:r>
              <a:t>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1160" y="2395728"/>
            <a:ext cx="2148840" cy="594360"/>
          </a:xfrm>
          <a:prstGeom prst="rect">
            <a:avLst/>
          </a:prstGeom>
          <a:solidFill>
            <a:srgbClr val="09111F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36024" y="2551176"/>
            <a:ext cx="203911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A7B6CA"/>
                </a:solidFill>
                <a:latin typeface="Noto Sans CJK SC"/>
              </a:defRPr>
            </a:pPr>
            <a:r>
              <a:t>已有对照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2990088"/>
            <a:ext cx="3401568" cy="594360"/>
          </a:xfrm>
          <a:prstGeom prst="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3145536"/>
            <a:ext cx="32918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F4F7FB"/>
                </a:solidFill>
                <a:latin typeface="Noto Sans CJK SC"/>
              </a:defRPr>
            </a:pPr>
            <a:r>
              <a:t>GPU 中间状态保留 / 迁移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06240" y="2990088"/>
            <a:ext cx="1463040" cy="594360"/>
          </a:xfrm>
          <a:prstGeom prst="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61103" y="3145536"/>
            <a:ext cx="135331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F4F7FB"/>
                </a:solidFill>
                <a:latin typeface="Noto Sans CJK SC"/>
              </a:defRPr>
            </a:pPr>
            <a:r>
              <a:t>保留期限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06440" y="2990088"/>
            <a:ext cx="1737360" cy="594360"/>
          </a:xfrm>
          <a:prstGeom prst="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61303" y="3145536"/>
            <a:ext cx="1627631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F4F7FB"/>
                </a:solidFill>
                <a:latin typeface="Noto Sans CJK SC"/>
              </a:defRPr>
            </a:pPr>
            <a:r>
              <a:t>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26679" y="2990088"/>
            <a:ext cx="1417320" cy="594360"/>
          </a:xfrm>
          <a:prstGeom prst="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81544" y="3145536"/>
            <a:ext cx="130759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F4F7FB"/>
                </a:solidFill>
                <a:latin typeface="Noto Sans CJK SC"/>
              </a:defRPr>
            </a:pPr>
            <a:r>
              <a:t>局部性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81160" y="2990088"/>
            <a:ext cx="2148840" cy="594360"/>
          </a:xfrm>
          <a:prstGeom prst="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36024" y="3145536"/>
            <a:ext cx="203911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A7B6CA"/>
                </a:solidFill>
                <a:latin typeface="Noto Sans CJK SC"/>
              </a:defRPr>
            </a:pPr>
            <a:r>
              <a:t>已有对照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3584448"/>
            <a:ext cx="3401568" cy="594360"/>
          </a:xfrm>
          <a:prstGeom prst="rect">
            <a:avLst/>
          </a:prstGeom>
          <a:solidFill>
            <a:srgbClr val="09111F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2" y="3739896"/>
            <a:ext cx="32918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F4F7FB"/>
                </a:solidFill>
                <a:latin typeface="Noto Sans CJK SC"/>
              </a:defRPr>
            </a:pPr>
            <a:r>
              <a:t>shell 子命令已完成到哪里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6240" y="3584448"/>
            <a:ext cx="1463040" cy="594360"/>
          </a:xfrm>
          <a:prstGeom prst="rect">
            <a:avLst/>
          </a:prstGeom>
          <a:solidFill>
            <a:srgbClr val="09111F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1103" y="3739896"/>
            <a:ext cx="135331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A7B6CA"/>
                </a:solidFill>
                <a:latin typeface="Noto Sans CJK SC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06440" y="3584448"/>
            <a:ext cx="1737360" cy="594360"/>
          </a:xfrm>
          <a:prstGeom prst="rect">
            <a:avLst/>
          </a:prstGeom>
          <a:solidFill>
            <a:srgbClr val="09111F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61303" y="3739896"/>
            <a:ext cx="1627631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A7B6CA"/>
                </a:solidFill>
                <a:latin typeface="Noto Sans CJK SC"/>
              </a:defRPr>
            </a:pPr>
            <a: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26679" y="3584448"/>
            <a:ext cx="1417320" cy="594360"/>
          </a:xfrm>
          <a:prstGeom prst="rect">
            <a:avLst/>
          </a:prstGeom>
          <a:solidFill>
            <a:srgbClr val="09111F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81544" y="3739896"/>
            <a:ext cx="130759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A7B6CA"/>
                </a:solidFill>
                <a:latin typeface="Noto Sans CJK SC"/>
              </a:defRPr>
            </a:pPr>
            <a: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81160" y="3584448"/>
            <a:ext cx="2148840" cy="594360"/>
          </a:xfrm>
          <a:prstGeom prst="rect">
            <a:avLst/>
          </a:prstGeom>
          <a:solidFill>
            <a:srgbClr val="09111F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36024" y="3739896"/>
            <a:ext cx="203911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1">
                <a:solidFill>
                  <a:srgbClr val="32D5C4"/>
                </a:solidFill>
                <a:latin typeface="Noto Sans CJK SC"/>
              </a:defRPr>
            </a:pPr>
            <a:r>
              <a:t>候选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4178808"/>
            <a:ext cx="3401568" cy="594360"/>
          </a:xfrm>
          <a:prstGeom prst="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3232" y="4334256"/>
            <a:ext cx="32918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F4F7FB"/>
                </a:solidFill>
                <a:latin typeface="Noto Sans CJK SC"/>
              </a:defRPr>
            </a:pPr>
            <a:r>
              <a:t>CPU / 内存 / 读写的实时因果状态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06240" y="4178808"/>
            <a:ext cx="1463040" cy="594360"/>
          </a:xfrm>
          <a:prstGeom prst="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61103" y="4334256"/>
            <a:ext cx="135331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A7B6CA"/>
                </a:solidFill>
                <a:latin typeface="Noto Sans CJK SC"/>
              </a:defRPr>
            </a:pPr>
            <a: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06440" y="4178808"/>
            <a:ext cx="1737360" cy="594360"/>
          </a:xfrm>
          <a:prstGeom prst="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861303" y="4334256"/>
            <a:ext cx="1627631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A7B6CA"/>
                </a:solidFill>
                <a:latin typeface="Noto Sans CJK SC"/>
              </a:defRPr>
            </a:pPr>
            <a: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26679" y="4178808"/>
            <a:ext cx="1417320" cy="594360"/>
          </a:xfrm>
          <a:prstGeom prst="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81544" y="4334256"/>
            <a:ext cx="130759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A7B6CA"/>
                </a:solidFill>
                <a:latin typeface="Noto Sans CJK SC"/>
              </a:defRPr>
            </a:pPr>
            <a:r>
              <a:t>—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281160" y="4178808"/>
            <a:ext cx="2148840" cy="594360"/>
          </a:xfrm>
          <a:prstGeom prst="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336024" y="4334256"/>
            <a:ext cx="203911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1">
                <a:solidFill>
                  <a:srgbClr val="32D5C4"/>
                </a:solidFill>
                <a:latin typeface="Noto Sans CJK SC"/>
              </a:defRPr>
            </a:pPr>
            <a:r>
              <a:t>候选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4773168"/>
            <a:ext cx="3401568" cy="594360"/>
          </a:xfrm>
          <a:prstGeom prst="rect">
            <a:avLst/>
          </a:prstGeom>
          <a:solidFill>
            <a:srgbClr val="09111F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3232" y="4928616"/>
            <a:ext cx="32918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120" b="1">
                <a:solidFill>
                  <a:srgbClr val="F4F7FB"/>
                </a:solidFill>
                <a:latin typeface="Noto Sans CJK SC"/>
              </a:defRPr>
            </a:pPr>
            <a:r>
              <a:t>同时决定 GPU 返回与 CPU 工具执行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206240" y="4773168"/>
            <a:ext cx="1463040" cy="594360"/>
          </a:xfrm>
          <a:prstGeom prst="rect">
            <a:avLst/>
          </a:prstGeom>
          <a:solidFill>
            <a:srgbClr val="09111F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61103" y="4928616"/>
            <a:ext cx="135331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A7B6CA"/>
                </a:solidFill>
                <a:latin typeface="Noto Sans CJK SC"/>
              </a:defRPr>
            </a:pPr>
            <a:r>
              <a:t>—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806440" y="4773168"/>
            <a:ext cx="1737360" cy="594360"/>
          </a:xfrm>
          <a:prstGeom prst="rect">
            <a:avLst/>
          </a:prstGeom>
          <a:solidFill>
            <a:srgbClr val="09111F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61303" y="4928616"/>
            <a:ext cx="1627631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F4F7FB"/>
                </a:solidFill>
                <a:latin typeface="Noto Sans CJK SC"/>
              </a:defRPr>
            </a:pPr>
            <a:r>
              <a:t>部分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726679" y="4773168"/>
            <a:ext cx="1417320" cy="594360"/>
          </a:xfrm>
          <a:prstGeom prst="rect">
            <a:avLst/>
          </a:prstGeom>
          <a:solidFill>
            <a:srgbClr val="09111F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781544" y="4928616"/>
            <a:ext cx="130759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0">
                <a:solidFill>
                  <a:srgbClr val="A7B6CA"/>
                </a:solidFill>
                <a:latin typeface="Noto Sans CJK SC"/>
              </a:defRPr>
            </a:pPr>
            <a:r>
              <a:t>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281160" y="4773168"/>
            <a:ext cx="2148840" cy="594360"/>
          </a:xfrm>
          <a:prstGeom prst="rect">
            <a:avLst/>
          </a:prstGeom>
          <a:solidFill>
            <a:srgbClr val="09111F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336024" y="4928616"/>
            <a:ext cx="2039112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120" b="1">
                <a:solidFill>
                  <a:srgbClr val="32D5C4"/>
                </a:solidFill>
                <a:latin typeface="Noto Sans CJK SC"/>
              </a:defRPr>
            </a:pPr>
            <a:r>
              <a:t>候选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7240" y="5513832"/>
            <a:ext cx="106070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500" b="1">
                <a:solidFill>
                  <a:srgbClr val="32D5C4"/>
                </a:solidFill>
                <a:latin typeface="Noto Sans CJK SC"/>
              </a:defRPr>
            </a:pPr>
            <a:r>
              <a:t>候选假设：比“工具已经跑了多久”更细的内部进度，能更早判断返回窗口与资源压力。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66928" y="6455664"/>
            <a:ext cx="11064240" cy="0"/>
          </a:xfrm>
          <a:prstGeom prst="line">
            <a:avLst/>
          </a:prstGeom>
          <a:ln w="1016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66928" y="6492240"/>
            <a:ext cx="10972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780" b="0">
                <a:solidFill>
                  <a:srgbClr val="677990"/>
                </a:solidFill>
                <a:latin typeface="Noto Sans CJK SC"/>
              </a:defRPr>
            </a:pPr>
            <a:r>
              <a:t>边界依据：analysis/offline/related-work.md；候选不等于已成立贡献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64008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50" b="1">
                <a:solidFill>
                  <a:srgbClr val="32D5C4"/>
                </a:solidFill>
                <a:latin typeface="Noto Sans CJK SC"/>
              </a:defRPr>
            </a:pPr>
            <a:r>
              <a:t>Related work：比较实验世界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09728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600" b="1">
                <a:solidFill>
                  <a:srgbClr val="F4F7FB"/>
                </a:solidFill>
                <a:latin typeface="Noto Sans CJK SC"/>
              </a:defRPr>
            </a:pPr>
            <a:r>
              <a:t>它们还覆盖了我们没有真正测过的系统场景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51560"/>
            <a:ext cx="11064240" cy="0"/>
          </a:xfrm>
          <a:prstGeom prst="line">
            <a:avLst/>
          </a:prstGeom>
          <a:ln w="1270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20272" y="201168"/>
            <a:ext cx="320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950" b="1">
                <a:solidFill>
                  <a:srgbClr val="677990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261872"/>
            <a:ext cx="5440680" cy="192024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95528" y="1426463"/>
            <a:ext cx="0" cy="1591057"/>
          </a:xfrm>
          <a:prstGeom prst="line">
            <a:avLst/>
          </a:prstGeom>
          <a:ln w="44450">
            <a:solidFill>
              <a:srgbClr val="32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69264" y="1408175"/>
            <a:ext cx="49834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32D5C4"/>
                </a:solidFill>
                <a:latin typeface="Noto Sans CJK SC"/>
              </a:defRPr>
            </a:pPr>
            <a:r>
              <a:t>Continuum：更多模型、硬件与真实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1856231"/>
            <a:ext cx="4983480" cy="12070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40" b="0">
                <a:solidFill>
                  <a:srgbClr val="A7B6CA"/>
                </a:solidFill>
                <a:latin typeface="Noto Sans CJK SC"/>
              </a:defRPr>
            </a:pPr>
            <a:r>
              <a:t>mini-SWE-Agent、BFCL Web、OpenHands；另跑 500 个真实 SWE 任务。采用任务到达流，覆盖 A100/H100/B200、单卡到 4 卡和分布式推理。</a:t>
            </a:r>
            <a:br/>
            <a:br/>
            <a:r>
              <a:t>我们未覆盖：多模型、多硬件、真实任务到达与 500 个任务的规模。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261872"/>
            <a:ext cx="5239512" cy="192024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6428232" y="1426463"/>
            <a:ext cx="0" cy="1591057"/>
          </a:xfrm>
          <a:prstGeom prst="line">
            <a:avLst/>
          </a:prstGeom>
          <a:ln w="44450">
            <a:solidFill>
              <a:srgbClr val="F4C7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601968" y="1408175"/>
            <a:ext cx="478231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F4C75B"/>
                </a:solidFill>
                <a:latin typeface="Noto Sans CJK SC"/>
              </a:defRPr>
            </a:pPr>
            <a:r>
              <a:t>ThunderAgent：高并发、多节点与强化学习采样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1856231"/>
            <a:ext cx="4782312" cy="12070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40" b="0">
                <a:solidFill>
                  <a:srgbClr val="A7B6CA"/>
                </a:solidFill>
                <a:latin typeface="Noto Sans CJK SC"/>
              </a:defRPr>
            </a:pPr>
            <a:r>
              <a:t>coding、routing、science agents 与强化学习采样；最高 96 个并发程序，模型跑在 H100 集群，Docker 工具环境放在独立 CPU 集群，并测环境准备与回收。</a:t>
            </a:r>
            <a:br/>
            <a:br/>
            <a:r>
              <a:t>我们未覆盖：多节点、超大模型、强化学习与高并发。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493008"/>
            <a:ext cx="5440680" cy="192024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795528" y="3657600"/>
            <a:ext cx="0" cy="1591056"/>
          </a:xfrm>
          <a:prstGeom prst="line">
            <a:avLst/>
          </a:prstGeom>
          <a:ln w="44450">
            <a:solidFill>
              <a:srgbClr val="B6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69264" y="3639312"/>
            <a:ext cx="49834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B69BFF"/>
                </a:solidFill>
                <a:latin typeface="Noto Sans CJK SC"/>
              </a:defRPr>
            </a:pPr>
            <a:r>
              <a:t>Agentix：混合程序、并行搜索与多副本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" y="4087368"/>
            <a:ext cx="4983480" cy="12070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40" b="0">
                <a:solidFill>
                  <a:srgbClr val="A7B6CA"/>
                </a:solidFill>
                <a:latin typeface="Noto Sans CJK SC"/>
              </a:defRPr>
            </a:pPr>
            <a:r>
              <a:t>ShareGPT 对话、BFCL 工具调用、LATS 并行搜索及其混合负载；按任务而非请求生成到达流，使用 1/4/8 张 A100，并测 2–4 个模型副本。</a:t>
            </a:r>
            <a:br/>
            <a:br/>
            <a:r>
              <a:t>我们未覆盖：并行程序图、混合负载与多副本局部性。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3493008"/>
            <a:ext cx="5239512" cy="192024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428232" y="3657600"/>
            <a:ext cx="0" cy="1591056"/>
          </a:xfrm>
          <a:prstGeom prst="line">
            <a:avLst/>
          </a:prstGeom>
          <a:ln w="44450">
            <a:solidFill>
              <a:srgbClr val="40D3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601968" y="3639312"/>
            <a:ext cx="478231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40D39C"/>
                </a:solidFill>
                <a:latin typeface="Noto Sans CJK SC"/>
              </a:defRPr>
            </a:pPr>
            <a:r>
              <a:t>我们：工具内部更真实，系统规模更小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4087368"/>
            <a:ext cx="4782312" cy="12070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40" b="0">
                <a:solidFill>
                  <a:srgbClr val="A7B6CA"/>
                </a:solidFill>
                <a:latin typeface="Noto Sans CJK SC"/>
              </a:defRPr>
            </a:pPr>
            <a:r>
              <a:t>SQLGlot/PennyLane 保留真实命令、子命令与 CPU/内存/读写计数；SWE/TB 提供广度。但物理 GPU 证据只有单 A100、8 个固定任务的回放。</a:t>
            </a:r>
            <a:br/>
            <a:br/>
            <a:r>
              <a:t>我们未覆盖：任务到达流、多副本、多 GPU、强化学习和混合 agent。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66928" y="6455664"/>
            <a:ext cx="11064240" cy="0"/>
          </a:xfrm>
          <a:prstGeom prst="line">
            <a:avLst/>
          </a:prstGeom>
          <a:ln w="1016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6928" y="6492240"/>
            <a:ext cx="10972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780" b="0">
                <a:solidFill>
                  <a:srgbClr val="677990"/>
                </a:solidFill>
                <a:latin typeface="Noto Sans CJK SC"/>
              </a:defRPr>
            </a:pPr>
            <a:r>
              <a:t>场景依据：Continuum §6；ThunderAgent §5；Agentix §6；我们的物理边界见 canonical objective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64008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50" b="1">
                <a:solidFill>
                  <a:srgbClr val="32D5C4"/>
                </a:solidFill>
                <a:latin typeface="Noto Sans CJK SC"/>
              </a:defRPr>
            </a:pPr>
            <a:r>
              <a:t>现实性是多维的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09728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600" b="1">
                <a:solidFill>
                  <a:srgbClr val="F4F7FB"/>
                </a:solidFill>
                <a:latin typeface="Noto Sans CJK SC"/>
              </a:defRPr>
            </a:pPr>
            <a:r>
              <a:t>“更真实”不是一个排名，要看我们想证明什么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51560"/>
            <a:ext cx="11064240" cy="0"/>
          </a:xfrm>
          <a:prstGeom prst="line">
            <a:avLst/>
          </a:prstGeom>
          <a:ln w="1270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20272" y="201168"/>
            <a:ext cx="320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950" b="1">
                <a:solidFill>
                  <a:srgbClr val="677990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298448"/>
            <a:ext cx="3401568" cy="184708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832104" y="1463039"/>
            <a:ext cx="0" cy="1517905"/>
          </a:xfrm>
          <a:prstGeom prst="line">
            <a:avLst/>
          </a:prstGeom>
          <a:ln w="44450">
            <a:solidFill>
              <a:srgbClr val="62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1444751"/>
            <a:ext cx="29443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62A8FF"/>
                </a:solidFill>
                <a:latin typeface="Noto Sans CJK SC"/>
              </a:defRPr>
            </a:pPr>
            <a:r>
              <a:t>证明工具理解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892807"/>
            <a:ext cx="2944368" cy="11338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20" b="0">
                <a:solidFill>
                  <a:srgbClr val="A7B6CA"/>
                </a:solidFill>
                <a:latin typeface="Noto Sans CJK SC"/>
              </a:defRPr>
            </a:pPr>
            <a:r>
              <a:t>最真实：同一大型仓库中的新任务，真实执行测试/安装命令，并刻意覆盖冷缓存、热缓存和不同测试范围。我们更接近，但环境对照还不够。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298448"/>
            <a:ext cx="3401568" cy="184708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526280" y="1463039"/>
            <a:ext cx="0" cy="1517905"/>
          </a:xfrm>
          <a:prstGeom prst="line">
            <a:avLst/>
          </a:prstGeom>
          <a:ln w="44450">
            <a:solidFill>
              <a:srgbClr val="B6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700016" y="1444751"/>
            <a:ext cx="29443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B69BFF"/>
                </a:solidFill>
                <a:latin typeface="Noto Sans CJK SC"/>
              </a:defRPr>
            </a:pPr>
            <a:r>
              <a:t>证明 GPU 服务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1892807"/>
            <a:ext cx="2944368" cy="11338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20" b="0">
                <a:solidFill>
                  <a:srgbClr val="A7B6CA"/>
                </a:solidFill>
                <a:latin typeface="Noto Sans CJK SC"/>
              </a:defRPr>
            </a:pPr>
            <a:r>
              <a:t>最真实：不同 agent 混合到达、从低负载扫到饱和、多个模型副本，并报告平均与最慢 1% 延迟。三篇相关工作明显更完整。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298448"/>
            <a:ext cx="3401568" cy="184708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8220456" y="1463039"/>
            <a:ext cx="0" cy="1517905"/>
          </a:xfrm>
          <a:prstGeom prst="line">
            <a:avLst/>
          </a:prstGeom>
          <a:ln w="44450">
            <a:solidFill>
              <a:srgbClr val="F4C7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394192" y="1444751"/>
            <a:ext cx="2944368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F4C75B"/>
                </a:solidFill>
                <a:latin typeface="Noto Sans CJK SC"/>
              </a:defRPr>
            </a:pPr>
            <a:r>
              <a:t>证明 CPU/GPU 协同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1892807"/>
            <a:ext cx="2944368" cy="11338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20" b="0">
                <a:solidFill>
                  <a:srgbClr val="A7B6CA"/>
                </a:solidFill>
                <a:latin typeface="Noto Sans CJK SC"/>
              </a:defRPr>
            </a:pPr>
            <a:r>
              <a:t>最真实：多个 coding agents 共享模型服务，在独立 CPU 节点执行真实工具；全部等待、变慢和状态移动都计入。ThunderAgent 最接近，但不看 shell 内部。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557016"/>
            <a:ext cx="56692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F4F7FB"/>
                </a:solidFill>
                <a:latin typeface="Noto Sans CJK SC"/>
              </a:defRPr>
            </a:pPr>
            <a:r>
              <a:t>因此不能只选一种数据分布；需要两层互补验证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4069080"/>
            <a:ext cx="4526280" cy="111556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32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279392"/>
            <a:ext cx="15544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00" b="1">
                <a:solidFill>
                  <a:srgbClr val="32D5C4"/>
                </a:solidFill>
                <a:latin typeface="Noto Sans CJK SC"/>
              </a:defRPr>
            </a:pPr>
            <a:r>
              <a:t>A · 方法是否有效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4187952"/>
            <a:ext cx="2542032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20" b="0">
                <a:solidFill>
                  <a:srgbClr val="A7B6CA"/>
                </a:solidFill>
                <a:latin typeface="Noto Sans CJK SC"/>
              </a:defRPr>
            </a:pPr>
            <a:r>
              <a:t>新鲜的同仓库任务 + 真实环境状态</a:t>
            </a:r>
            <a:br/>
            <a:r>
              <a:t>回答：细粒度状态能不能改进动作？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68112" y="4498848"/>
            <a:ext cx="640080" cy="182880"/>
          </a:xfrm>
          <a:prstGeom prst="rightArrow">
            <a:avLst/>
          </a:prstGeom>
          <a:solidFill>
            <a:srgbClr val="677990"/>
          </a:solidFill>
          <a:ln>
            <a:solidFill>
              <a:srgbClr val="677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4069080"/>
            <a:ext cx="4526280" cy="1115568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40D3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4279392"/>
            <a:ext cx="15544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00" b="1">
                <a:solidFill>
                  <a:srgbClr val="40D39C"/>
                </a:solidFill>
                <a:latin typeface="Noto Sans CJK SC"/>
              </a:defRPr>
            </a:pPr>
            <a:r>
              <a:t>B · 系统是否实用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28431" y="4187952"/>
            <a:ext cx="2542032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20" b="0">
                <a:solidFill>
                  <a:srgbClr val="A7B6CA"/>
                </a:solidFill>
                <a:latin typeface="Noto Sans CJK SC"/>
              </a:defRPr>
            </a:pPr>
            <a:r>
              <a:t>同仓库与跨仓库混合 + 批量突发与到达流</a:t>
            </a:r>
            <a:br/>
            <a:r>
              <a:t>回答：在真实竞争下是否仍改善完成时间和尾部？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733288"/>
            <a:ext cx="10881360" cy="530352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879592"/>
            <a:ext cx="1325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50" b="1">
                <a:solidFill>
                  <a:srgbClr val="F4C75B"/>
                </a:solidFill>
                <a:latin typeface="Noto Sans CJK SC"/>
              </a:defRPr>
            </a:pPr>
            <a:r>
              <a:t>这一阶段学到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66543" y="5833872"/>
            <a:ext cx="9144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20" b="1">
                <a:solidFill>
                  <a:srgbClr val="F4F7FB"/>
                </a:solidFill>
                <a:latin typeface="Noto Sans CJK SC"/>
              </a:defRPr>
            </a:pPr>
            <a:r>
              <a:t>下一套实验应保留我们的真实工具粒度，同时补上相关工作的并发、到达流和多副本场景。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66928" y="6455664"/>
            <a:ext cx="11064240" cy="0"/>
          </a:xfrm>
          <a:prstGeom prst="line">
            <a:avLst/>
          </a:prstGeom>
          <a:ln w="1016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66928" y="6492240"/>
            <a:ext cx="10972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780" b="0">
                <a:solidFill>
                  <a:srgbClr val="677990"/>
                </a:solidFill>
                <a:latin typeface="Noto Sans CJK SC"/>
              </a:defRPr>
            </a:pPr>
            <a:r>
              <a:t>判断：系统规模上 related work 更真实；shell 内部工作上我们的 trace 更真实；两者都不能替代另一方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64008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50" b="1">
                <a:solidFill>
                  <a:srgbClr val="32D5C4"/>
                </a:solidFill>
                <a:latin typeface="Noto Sans CJK SC"/>
              </a:defRPr>
            </a:pPr>
            <a:r>
              <a:t>把候选差异变成可证伪问题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09728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600" b="1">
                <a:solidFill>
                  <a:srgbClr val="F4F7FB"/>
                </a:solidFill>
                <a:latin typeface="Noto Sans CJK SC"/>
              </a:defRPr>
            </a:pPr>
            <a:r>
              <a:t>下一步先做一个最小因果实验，不先造新系统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51560"/>
            <a:ext cx="11064240" cy="0"/>
          </a:xfrm>
          <a:prstGeom prst="line">
            <a:avLst/>
          </a:prstGeom>
          <a:ln w="1270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20272" y="201168"/>
            <a:ext cx="320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950" b="1">
                <a:solidFill>
                  <a:srgbClr val="677990"/>
                </a:solidFill>
                <a:latin typeface="Noto Sans CJK SC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35024"/>
            <a:ext cx="6583680" cy="34747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600" b="1">
                <a:solidFill>
                  <a:srgbClr val="F4F7FB"/>
                </a:solidFill>
                <a:latin typeface="Noto Sans CJK SC"/>
              </a:defRPr>
            </a:pPr>
            <a:r>
              <a:t>同一批真实 trace，比较三层信息是否真的改变动作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1920239"/>
            <a:ext cx="475488" cy="475488"/>
          </a:xfrm>
          <a:prstGeom prst="ellipse">
            <a:avLst/>
          </a:prstGeom>
          <a:solidFill>
            <a:srgbClr val="677990"/>
          </a:solidFill>
          <a:ln>
            <a:solidFill>
              <a:srgbClr val="677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79"/>
            <a:ext cx="47548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00" b="1">
                <a:solidFill>
                  <a:srgbClr val="09111F"/>
                </a:solidFill>
                <a:latin typeface="Noto Sans CJK SC"/>
              </a:defRPr>
            </a:pPr>
            <a:r>
              <a:t>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08760" y="1874519"/>
            <a:ext cx="5074920" cy="64008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677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2029967"/>
            <a:ext cx="164592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00" b="1">
                <a:solidFill>
                  <a:srgbClr val="677990"/>
                </a:solidFill>
                <a:latin typeface="Noto Sans CJK SC"/>
              </a:defRPr>
            </a:pPr>
            <a:r>
              <a:t>阶段反馈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29967"/>
            <a:ext cx="30632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20" b="0">
                <a:solidFill>
                  <a:srgbClr val="A7B6CA"/>
                </a:solidFill>
                <a:latin typeface="Noto Sans CJK SC"/>
              </a:defRPr>
            </a:pPr>
            <a:r>
              <a:t>只知道：现在在 LLM 还是工具阶段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69264" y="2624327"/>
            <a:ext cx="164592" cy="182880"/>
          </a:xfrm>
          <a:prstGeom prst="rightArrow">
            <a:avLst/>
          </a:prstGeom>
          <a:solidFill>
            <a:srgbClr val="677990"/>
          </a:solidFill>
          <a:ln>
            <a:solidFill>
              <a:srgbClr val="677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60" y="2926079"/>
            <a:ext cx="475488" cy="475488"/>
          </a:xfrm>
          <a:prstGeom prst="ellipse">
            <a:avLst/>
          </a:prstGeom>
          <a:solidFill>
            <a:srgbClr val="F4C75B"/>
          </a:solidFill>
          <a:ln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017520"/>
            <a:ext cx="47548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00" b="1">
                <a:solidFill>
                  <a:srgbClr val="09111F"/>
                </a:solidFill>
                <a:latin typeface="Noto Sans CJK SC"/>
              </a:defRPr>
            </a:pPr>
            <a:r>
              <a:t>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08760" y="2880360"/>
            <a:ext cx="5074920" cy="64008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3035808"/>
            <a:ext cx="164592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00" b="1">
                <a:solidFill>
                  <a:srgbClr val="F4C75B"/>
                </a:solidFill>
                <a:latin typeface="Noto Sans CJK SC"/>
              </a:defRPr>
            </a:pPr>
            <a:r>
              <a:t>ThunderAgent 风格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035808"/>
            <a:ext cx="30632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20" b="0">
                <a:solidFill>
                  <a:srgbClr val="A7B6CA"/>
                </a:solidFill>
                <a:latin typeface="Noto Sans CJK SC"/>
              </a:defRPr>
            </a:pPr>
            <a:r>
              <a:t>再加：工具已运行多久、GPU 状态位置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9264" y="3630168"/>
            <a:ext cx="164592" cy="182880"/>
          </a:xfrm>
          <a:prstGeom prst="rightArrow">
            <a:avLst/>
          </a:prstGeom>
          <a:solidFill>
            <a:srgbClr val="677990"/>
          </a:solidFill>
          <a:ln>
            <a:solidFill>
              <a:srgbClr val="677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2960" y="3931920"/>
            <a:ext cx="475488" cy="475488"/>
          </a:xfrm>
          <a:prstGeom prst="ellipse">
            <a:avLst/>
          </a:prstGeom>
          <a:solidFill>
            <a:srgbClr val="32D5C4"/>
          </a:solidFill>
          <a:ln>
            <a:solidFill>
              <a:srgbClr val="32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023360"/>
            <a:ext cx="475488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00" b="1">
                <a:solidFill>
                  <a:srgbClr val="09111F"/>
                </a:solidFill>
                <a:latin typeface="Noto Sans CJK SC"/>
              </a:defRPr>
            </a:pPr>
            <a:r>
              <a:t>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08760" y="3886200"/>
            <a:ext cx="5074920" cy="64008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32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91640" y="4041648"/>
            <a:ext cx="164592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00" b="1">
                <a:solidFill>
                  <a:srgbClr val="32D5C4"/>
                </a:solidFill>
                <a:latin typeface="Noto Sans CJK SC"/>
              </a:defRPr>
            </a:pPr>
            <a:r>
              <a:t>工具内部状态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4041648"/>
            <a:ext cx="306324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20" b="0">
                <a:solidFill>
                  <a:srgbClr val="A7B6CA"/>
                </a:solidFill>
                <a:latin typeface="Noto Sans CJK SC"/>
              </a:defRPr>
            </a:pPr>
            <a:r>
              <a:t>再加：子命令进度与 CPU/内存/读写反馈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59168" y="1417320"/>
            <a:ext cx="4069080" cy="128016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196328" y="1581912"/>
            <a:ext cx="0" cy="950976"/>
          </a:xfrm>
          <a:prstGeom prst="line">
            <a:avLst/>
          </a:prstGeom>
          <a:ln w="44450">
            <a:solidFill>
              <a:srgbClr val="40D3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70064" y="1563624"/>
            <a:ext cx="36118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40D39C"/>
                </a:solidFill>
                <a:latin typeface="Noto Sans CJK SC"/>
              </a:defRPr>
            </a:pPr>
            <a:r>
              <a:t>先在现有 trace 上做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0064" y="2011680"/>
            <a:ext cx="3611880" cy="566927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20" b="0">
                <a:solidFill>
                  <a:srgbClr val="A7B6CA"/>
                </a:solidFill>
                <a:latin typeface="Noto Sans CJK SC"/>
              </a:defRPr>
            </a:pPr>
            <a:r>
              <a:t>问 C 是否比 B 改变了借入、返回保护或 KV 保留决策；不需要 GPU。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59168" y="2907792"/>
            <a:ext cx="4069080" cy="128016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7196328" y="3072384"/>
            <a:ext cx="0" cy="950976"/>
          </a:xfrm>
          <a:prstGeom prst="line">
            <a:avLst/>
          </a:prstGeom>
          <a:ln w="44450">
            <a:solidFill>
              <a:srgbClr val="F4C7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370064" y="3054096"/>
            <a:ext cx="36118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F4C75B"/>
                </a:solidFill>
                <a:latin typeface="Noto Sans CJK SC"/>
              </a:defRPr>
            </a:pPr>
            <a:r>
              <a:t>只有过门槛才上实机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0064" y="3502152"/>
            <a:ext cx="3611880" cy="566927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320" b="0">
                <a:solidFill>
                  <a:srgbClr val="A7B6CA"/>
                </a:solidFill>
                <a:latin typeface="Noto Sans CJK SC"/>
              </a:defRPr>
            </a:pPr>
            <a:r>
              <a:t>至少改变足够多独立任务的动作，并在 trace 回放中同时改善完成时间与返回重叠。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59168" y="4398264"/>
            <a:ext cx="4069080" cy="100584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7196328" y="4562855"/>
            <a:ext cx="0" cy="676657"/>
          </a:xfrm>
          <a:prstGeom prst="line">
            <a:avLst/>
          </a:prstGeom>
          <a:ln w="44450">
            <a:solidFill>
              <a:srgbClr val="B6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70064" y="4544568"/>
            <a:ext cx="36118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B69BFF"/>
                </a:solidFill>
                <a:latin typeface="Noto Sans CJK SC"/>
              </a:defRPr>
            </a:pPr>
            <a:r>
              <a:t>实机对照不能缺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70064" y="4992624"/>
            <a:ext cx="361188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50" b="0">
                <a:solidFill>
                  <a:srgbClr val="A7B6CA"/>
                </a:solidFill>
                <a:latin typeface="Noto Sans CJK SC"/>
              </a:defRPr>
            </a:pPr>
            <a:r>
              <a:t>Continuum 式保留期限、ThunderAgent 式时间衰减、Agentix 式到达后优先级。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733288"/>
            <a:ext cx="10881360" cy="530352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8" y="5879592"/>
            <a:ext cx="1325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50" b="1">
                <a:solidFill>
                  <a:srgbClr val="F4C75B"/>
                </a:solidFill>
                <a:latin typeface="Noto Sans CJK SC"/>
              </a:defRPr>
            </a:pPr>
            <a:r>
              <a:t>这一阶段学到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66543" y="5833872"/>
            <a:ext cx="9144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20" b="1">
                <a:solidFill>
                  <a:srgbClr val="F4F7FB"/>
                </a:solidFill>
                <a:latin typeface="Noto Sans CJK SC"/>
              </a:defRPr>
            </a:pPr>
            <a:r>
              <a:t>贡献不是“我们看得更细”，而是这份细粒度状态在相同成本下改变了更好的动作。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6928" y="6455664"/>
            <a:ext cx="11064240" cy="0"/>
          </a:xfrm>
          <a:prstGeom prst="line">
            <a:avLst/>
          </a:prstGeom>
          <a:ln w="1016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66928" y="6492240"/>
            <a:ext cx="10972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780" b="0">
                <a:solidFill>
                  <a:srgbClr val="677990"/>
                </a:solidFill>
                <a:latin typeface="Noto Sans CJK SC"/>
              </a:defRPr>
            </a:pPr>
            <a:r>
              <a:t>下一步需冻结 cohort、动作、成本和 GO/STOP 标准后再读结果；不启动新的昂贵实验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64008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50" b="1">
                <a:solidFill>
                  <a:srgbClr val="32D5C4"/>
                </a:solidFill>
                <a:latin typeface="Noto Sans CJK SC"/>
              </a:defRPr>
            </a:pPr>
            <a:r>
              <a:t>从预测到系统效果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09728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600" b="1">
                <a:solidFill>
                  <a:srgbClr val="F4F7FB"/>
                </a:solidFill>
                <a:latin typeface="Noto Sans CJK SC"/>
              </a:defRPr>
            </a:pPr>
            <a:r>
              <a:t>如果四个环节都成立，论文故事才完整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51560"/>
            <a:ext cx="11064240" cy="0"/>
          </a:xfrm>
          <a:prstGeom prst="line">
            <a:avLst/>
          </a:prstGeom>
          <a:ln w="1270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20272" y="201168"/>
            <a:ext cx="320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950" b="1">
                <a:solidFill>
                  <a:srgbClr val="677990"/>
                </a:solidFill>
                <a:latin typeface="Noto Sans CJK SC"/>
              </a:defRPr>
            </a:pPr>
            <a:r>
              <a:t>18</a:t>
            </a:r>
          </a:p>
        </p:txBody>
      </p:sp>
      <p:sp>
        <p:nvSpPr>
          <p:cNvPr id="6" name="Oval 5"/>
          <p:cNvSpPr/>
          <p:nvPr/>
        </p:nvSpPr>
        <p:spPr>
          <a:xfrm>
            <a:off x="1545336" y="1417320"/>
            <a:ext cx="621792" cy="621792"/>
          </a:xfrm>
          <a:prstGeom prst="ellipse">
            <a:avLst/>
          </a:prstGeom>
          <a:solidFill>
            <a:srgbClr val="62A8FF"/>
          </a:solidFill>
          <a:ln>
            <a:solidFill>
              <a:srgbClr val="6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45336" y="1600200"/>
            <a:ext cx="62179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400" b="1">
                <a:solidFill>
                  <a:srgbClr val="09111F"/>
                </a:solidFill>
                <a:latin typeface="Noto Sans CJK SC"/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304288"/>
            <a:ext cx="2304288" cy="150876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6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2084831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500" b="1">
                <a:solidFill>
                  <a:srgbClr val="62A8FF"/>
                </a:solidFill>
                <a:latin typeface="Noto Sans CJK SC"/>
              </a:defRPr>
            </a:pPr>
            <a:r>
              <a:t>理解工具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962656"/>
            <a:ext cx="1975104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20" b="0">
                <a:solidFill>
                  <a:srgbClr val="A7B6CA"/>
                </a:solidFill>
                <a:latin typeface="Noto Sans CJK SC"/>
              </a:defRPr>
            </a:pPr>
            <a:r>
              <a:t>完整命令 → 子命令 → 真实工作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18104" y="2926080"/>
            <a:ext cx="256032" cy="164592"/>
          </a:xfrm>
          <a:prstGeom prst="rightArrow">
            <a:avLst/>
          </a:prstGeom>
          <a:solidFill>
            <a:srgbClr val="677990"/>
          </a:solidFill>
          <a:ln>
            <a:solidFill>
              <a:srgbClr val="677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34256" y="1417320"/>
            <a:ext cx="621792" cy="621792"/>
          </a:xfrm>
          <a:prstGeom prst="ellipse">
            <a:avLst/>
          </a:prstGeom>
          <a:solidFill>
            <a:srgbClr val="32D5C4"/>
          </a:solidFill>
          <a:ln>
            <a:solidFill>
              <a:srgbClr val="32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4256" y="1600200"/>
            <a:ext cx="62179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400" b="1">
                <a:solidFill>
                  <a:srgbClr val="09111F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2152" y="2304288"/>
            <a:ext cx="2304288" cy="150876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32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2514600"/>
            <a:ext cx="2084831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500" b="1">
                <a:solidFill>
                  <a:srgbClr val="32D5C4"/>
                </a:solidFill>
                <a:latin typeface="Noto Sans CJK SC"/>
              </a:defRPr>
            </a:pPr>
            <a:r>
              <a:t>预测状态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6744" y="2962656"/>
            <a:ext cx="1975104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20" b="0">
                <a:solidFill>
                  <a:srgbClr val="A7B6CA"/>
                </a:solidFill>
                <a:latin typeface="Noto Sans CJK SC"/>
              </a:defRPr>
            </a:pPr>
            <a:r>
              <a:t>何时返回、CPU/内存/读写如何变化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07024" y="2926080"/>
            <a:ext cx="256032" cy="164592"/>
          </a:xfrm>
          <a:prstGeom prst="rightArrow">
            <a:avLst/>
          </a:prstGeom>
          <a:solidFill>
            <a:srgbClr val="677990"/>
          </a:solidFill>
          <a:ln>
            <a:solidFill>
              <a:srgbClr val="677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23176" y="1417320"/>
            <a:ext cx="621792" cy="621792"/>
          </a:xfrm>
          <a:prstGeom prst="ellipse">
            <a:avLst/>
          </a:prstGeom>
          <a:solidFill>
            <a:srgbClr val="F4C75B"/>
          </a:solidFill>
          <a:ln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23176" y="1600200"/>
            <a:ext cx="62179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400" b="1">
                <a:solidFill>
                  <a:srgbClr val="09111F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1072" y="2304288"/>
            <a:ext cx="2304288" cy="150876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514600"/>
            <a:ext cx="2084831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500" b="1">
                <a:solidFill>
                  <a:srgbClr val="F4C75B"/>
                </a:solidFill>
                <a:latin typeface="Noto Sans CJK SC"/>
              </a:defRPr>
            </a:pPr>
            <a:r>
              <a:t>连接动作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2962656"/>
            <a:ext cx="1975104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20" b="0">
                <a:solidFill>
                  <a:srgbClr val="A7B6CA"/>
                </a:solidFill>
                <a:latin typeface="Noto Sans CJK SC"/>
              </a:defRPr>
            </a:pPr>
            <a:r>
              <a:t>借入、返回优先、KV 保留、工具进程放置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695944" y="2926080"/>
            <a:ext cx="256032" cy="164592"/>
          </a:xfrm>
          <a:prstGeom prst="rightArrow">
            <a:avLst/>
          </a:prstGeom>
          <a:solidFill>
            <a:srgbClr val="677990"/>
          </a:solidFill>
          <a:ln>
            <a:solidFill>
              <a:srgbClr val="6779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12095" y="1417320"/>
            <a:ext cx="621792" cy="621792"/>
          </a:xfrm>
          <a:prstGeom prst="ellipse">
            <a:avLst/>
          </a:prstGeom>
          <a:solidFill>
            <a:srgbClr val="40D39C"/>
          </a:solidFill>
          <a:ln>
            <a:solidFill>
              <a:srgbClr val="40D3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12095" y="1600200"/>
            <a:ext cx="621792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400" b="1">
                <a:solidFill>
                  <a:srgbClr val="09111F"/>
                </a:solidFill>
                <a:latin typeface="Noto Sans CJK SC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9991" y="2304288"/>
            <a:ext cx="2304288" cy="150876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40D3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19" y="2514600"/>
            <a:ext cx="2084831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500" b="1">
                <a:solidFill>
                  <a:srgbClr val="40D39C"/>
                </a:solidFill>
                <a:latin typeface="Noto Sans CJK SC"/>
              </a:defRPr>
            </a:pPr>
            <a:r>
              <a:t>证明收益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583" y="2962656"/>
            <a:ext cx="1975104" cy="53035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220" b="0">
                <a:solidFill>
                  <a:srgbClr val="A7B6CA"/>
                </a:solidFill>
                <a:latin typeface="Noto Sans CJK SC"/>
              </a:defRPr>
            </a:pPr>
            <a:r>
              <a:t>任务更快、尾部不坏、移动成本全计入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9808" y="4315968"/>
            <a:ext cx="3246120" cy="105156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886968" y="4480559"/>
            <a:ext cx="0" cy="722377"/>
          </a:xfrm>
          <a:prstGeom prst="line">
            <a:avLst/>
          </a:prstGeom>
          <a:ln w="44450">
            <a:solidFill>
              <a:srgbClr val="62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0704" y="4462272"/>
            <a:ext cx="27889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62A8FF"/>
                </a:solidFill>
                <a:latin typeface="Noto Sans CJK SC"/>
              </a:defRPr>
            </a:pPr>
            <a:r>
              <a:t>可能贡献 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" y="4910328"/>
            <a:ext cx="2788920" cy="338327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80" b="0">
                <a:solidFill>
                  <a:srgbClr val="A7B6CA"/>
                </a:solidFill>
                <a:latin typeface="Noto Sans CJK SC"/>
              </a:defRPr>
            </a:pPr>
            <a:r>
              <a:t>普通黑盒 agent trace 也能得到完整命令/子命令级资源状态。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62272" y="4315968"/>
            <a:ext cx="3246120" cy="105156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4599432" y="4480559"/>
            <a:ext cx="0" cy="722377"/>
          </a:xfrm>
          <a:prstGeom prst="line">
            <a:avLst/>
          </a:prstGeom>
          <a:ln w="44450">
            <a:solidFill>
              <a:srgbClr val="32D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773168" y="4462272"/>
            <a:ext cx="27889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32D5C4"/>
                </a:solidFill>
                <a:latin typeface="Noto Sans CJK SC"/>
              </a:defRPr>
            </a:pPr>
            <a:r>
              <a:t>可能贡献 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73168" y="4910328"/>
            <a:ext cx="2788920" cy="338327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80" b="0">
                <a:solidFill>
                  <a:srgbClr val="A7B6CA"/>
                </a:solidFill>
                <a:latin typeface="Noto Sans CJK SC"/>
              </a:defRPr>
            </a:pPr>
            <a:r>
              <a:t>细粒度状态改善跨 CPU/GPU 的实际调度动作。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74736" y="4315968"/>
            <a:ext cx="3246120" cy="1051560"/>
          </a:xfrm>
          <a:prstGeom prst="roundRect">
            <a:avLst/>
          </a:prstGeom>
          <a:solidFill>
            <a:srgbClr val="111D30"/>
          </a:solidFill>
          <a:ln w="12700">
            <a:solidFill>
              <a:srgbClr val="172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8311896" y="4480559"/>
            <a:ext cx="0" cy="722377"/>
          </a:xfrm>
          <a:prstGeom prst="line">
            <a:avLst/>
          </a:prstGeom>
          <a:ln w="44450">
            <a:solidFill>
              <a:srgbClr val="40D3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85632" y="4462272"/>
            <a:ext cx="27889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40D39C"/>
                </a:solidFill>
                <a:latin typeface="Noto Sans CJK SC"/>
              </a:defRPr>
            </a:pPr>
            <a:r>
              <a:t>可能贡献 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85632" y="4910328"/>
            <a:ext cx="2788920" cy="338327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280" b="0">
                <a:solidFill>
                  <a:srgbClr val="A7B6CA"/>
                </a:solidFill>
                <a:latin typeface="Noto Sans CJK SC"/>
              </a:defRPr>
            </a:pPr>
            <a:r>
              <a:t>在真实 agent 负载上同时改善完成时间与尾部。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733288"/>
            <a:ext cx="10881360" cy="530352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F4C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5879592"/>
            <a:ext cx="132588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050" b="1">
                <a:solidFill>
                  <a:srgbClr val="F4C75B"/>
                </a:solidFill>
                <a:latin typeface="Noto Sans CJK SC"/>
              </a:defRPr>
            </a:pPr>
            <a:r>
              <a:t>这一阶段学到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66543" y="5833872"/>
            <a:ext cx="91440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420" b="1">
                <a:solidFill>
                  <a:srgbClr val="F4F7FB"/>
                </a:solidFill>
                <a:latin typeface="Noto Sans CJK SC"/>
              </a:defRPr>
            </a:pPr>
            <a:r>
              <a:t>单独的预测准确率不够；系统贡献必须落在完整任务完成时间、尾部与资源成本上。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66928" y="6455664"/>
            <a:ext cx="11064240" cy="0"/>
          </a:xfrm>
          <a:prstGeom prst="line">
            <a:avLst/>
          </a:prstGeom>
          <a:ln w="1016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" y="6492240"/>
            <a:ext cx="1097280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780" b="0">
                <a:solidFill>
                  <a:srgbClr val="677990"/>
                </a:solidFill>
                <a:latin typeface="Noto Sans CJK SC"/>
              </a:defRPr>
            </a:pPr>
            <a:r>
              <a:t>当前 A 有成熟基础；B 有 trace 回放上界与物理反馈信号；C 尚未成立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01168"/>
            <a:ext cx="640080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50" b="1">
                <a:solidFill>
                  <a:srgbClr val="32D5C4"/>
                </a:solidFill>
                <a:latin typeface="Noto Sans CJK SC"/>
              </a:defRPr>
            </a:pPr>
            <a: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0972800" cy="60350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2600" b="1">
                <a:solidFill>
                  <a:srgbClr val="F4F7FB"/>
                </a:solidFill>
                <a:latin typeface="Noto Sans CJK SC"/>
              </a:defRPr>
            </a:pPr>
            <a:r>
              <a:t>带走四句话，然后继续问一个更尖锐的问题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051560"/>
            <a:ext cx="11064240" cy="0"/>
          </a:xfrm>
          <a:prstGeom prst="line">
            <a:avLst/>
          </a:prstGeom>
          <a:ln w="12700">
            <a:solidFill>
              <a:srgbClr val="172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20272" y="201168"/>
            <a:ext cx="320040" cy="21945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defRPr sz="950" b="1">
                <a:solidFill>
                  <a:srgbClr val="677990"/>
                </a:solidFill>
                <a:latin typeface="Noto Sans CJK SC"/>
              </a:defRPr>
            </a:pPr>
            <a: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99032"/>
            <a:ext cx="566928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FF7A85"/>
                </a:solidFill>
                <a:latin typeface="Noto Sans CJK SC"/>
              </a:defRPr>
            </a:pPr>
            <a:r>
              <a:t>01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89888" y="1581912"/>
            <a:ext cx="484631" cy="0"/>
          </a:xfrm>
          <a:prstGeom prst="line">
            <a:avLst/>
          </a:prstGeom>
          <a:ln w="25400">
            <a:solidFill>
              <a:srgbClr val="FF7A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057400" y="1353312"/>
            <a:ext cx="886968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700" b="1">
                <a:solidFill>
                  <a:srgbClr val="F4F7FB"/>
                </a:solidFill>
                <a:latin typeface="Noto Sans CJK SC"/>
              </a:defRPr>
            </a:pPr>
            <a:r>
              <a:t>文本相似，不代表真实工作相似。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79"/>
            <a:ext cx="566928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62A8FF"/>
                </a:solidFill>
                <a:latin typeface="Noto Sans CJK SC"/>
              </a:defRPr>
            </a:pPr>
            <a:r>
              <a:t>02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89888" y="2423160"/>
            <a:ext cx="484631" cy="0"/>
          </a:xfrm>
          <a:prstGeom prst="line">
            <a:avLst/>
          </a:prstGeom>
          <a:ln w="25400">
            <a:solidFill>
              <a:srgbClr val="62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057400" y="2194560"/>
            <a:ext cx="886968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700" b="1">
                <a:solidFill>
                  <a:srgbClr val="F4F7FB"/>
                </a:solidFill>
                <a:latin typeface="Noto Sans CJK SC"/>
              </a:defRPr>
            </a:pPr>
            <a:r>
              <a:t>同仓库结构能提高预测，但不自动产生调度收益。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81528"/>
            <a:ext cx="566928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F4C75B"/>
                </a:solidFill>
                <a:latin typeface="Noto Sans CJK SC"/>
              </a:defRPr>
            </a:pPr>
            <a:r>
              <a:t>03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89888" y="3264408"/>
            <a:ext cx="484631" cy="0"/>
          </a:xfrm>
          <a:prstGeom prst="line">
            <a:avLst/>
          </a:prstGeom>
          <a:ln w="25400">
            <a:solidFill>
              <a:srgbClr val="F4C7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057400" y="3035808"/>
            <a:ext cx="886968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700" b="1">
                <a:solidFill>
                  <a:srgbClr val="F4F7FB"/>
                </a:solidFill>
                <a:latin typeface="Noto Sans CJK SC"/>
              </a:defRPr>
            </a:pPr>
            <a:r>
              <a:t>反馈和阶段错开已有强信号；硬档位准入容易不安全。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22776"/>
            <a:ext cx="566928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500" b="1">
                <a:solidFill>
                  <a:srgbClr val="B69BFF"/>
                </a:solidFill>
                <a:latin typeface="Noto Sans CJK SC"/>
              </a:defRPr>
            </a:pPr>
            <a:r>
              <a:t>04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89888" y="4105656"/>
            <a:ext cx="484631" cy="0"/>
          </a:xfrm>
          <a:prstGeom prst="line">
            <a:avLst/>
          </a:prstGeom>
          <a:ln w="25400">
            <a:solidFill>
              <a:srgbClr val="B69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057400" y="3877056"/>
            <a:ext cx="886968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1700" b="1">
                <a:solidFill>
                  <a:srgbClr val="F4F7FB"/>
                </a:solidFill>
                <a:latin typeface="Noto Sans CJK SC"/>
              </a:defRPr>
            </a:pPr>
            <a:r>
              <a:t>Continuum、ThunderAgent、Agentix 已覆盖外层阶段与 KV 动作。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800600"/>
            <a:ext cx="10744200" cy="822960"/>
          </a:xfrm>
          <a:prstGeom prst="roundRect">
            <a:avLst/>
          </a:prstGeom>
          <a:solidFill>
            <a:srgbClr val="17263D"/>
          </a:solidFill>
          <a:ln w="12700">
            <a:solidFill>
              <a:srgbClr val="32D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038344"/>
            <a:ext cx="1033272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defRPr sz="1700" b="1">
                <a:solidFill>
                  <a:srgbClr val="32D5C4"/>
                </a:solidFill>
                <a:latin typeface="Noto Sans CJK SC"/>
              </a:defRPr>
            </a:pPr>
            <a:r>
              <a:t>下一问：工具内部进度是否能比“已运行多久”更早、更准地保护 GPU 返回，同时推进 CPU 工作？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852160"/>
            <a:ext cx="960120" cy="2011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80" b="1">
                <a:solidFill>
                  <a:srgbClr val="677990"/>
                </a:solidFill>
                <a:latin typeface="Noto Sans CJK SC"/>
              </a:defRPr>
            </a:pPr>
            <a:r>
              <a:t>证据入口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5815584"/>
            <a:ext cx="955548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19" b="0">
                <a:solidFill>
                  <a:srgbClr val="A7B6CA"/>
                </a:solidFill>
                <a:latin typeface="Noto Sans CJK SC"/>
              </a:defRPr>
            </a:pPr>
            <a:r>
              <a:t>analysis/development/tool-resource-canonical-objective.md  ·  analysis/ROADMAP.md  ·  analysis/offline/related-work.md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6099048"/>
            <a:ext cx="9555480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defRPr sz="919" b="0">
                <a:solidFill>
                  <a:srgbClr val="A7B6CA"/>
                </a:solidFill>
                <a:latin typeface="Noto Sans CJK SC"/>
              </a:defRPr>
            </a:pPr>
            <a:r>
              <a:t>论文：arxiv.org/abs/2511.02230  ·  arxiv.org/abs/2602.13692  ·  usenix.org/conference/nsdi26/presentation/luo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