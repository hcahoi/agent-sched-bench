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related-work-synthesis-20260715.md; Continuum arXiv:2511.02230 (Fig. 5b: slowest 10% of cd = 94.1% of delay; per-tool-name empirical CDF sets KV TTL, cold-start back-off tool -&gt; global). Head-to-head result vs this estimator class: tool-time-tool-name-baseline-swe-rebench-20260715/findings.md.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Utility = swap-out time hidden off the critical path minus restore and misfire costs; the fixed-deadline policy is the zero point. Utility functional: _utility_matrix in tool_latency_utility_clock.py.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 a call arrives. Step 1 prices the actions with zero ML: the swap-out cost c follows from the KV-cache size over the measured PCIe rate (illustrative 2000 ms); reload costs rho*c = 1880 ms at the measured rho = 0.94; recomputing the 12K-token context costs ~490 ms interpolated from the measured prefill floor+slope curve; the restore stake is the cheaper of reload and recompute, 490 ms. Step 2 walks the command-prefix trie exec -&gt; pip -&gt; pip install (sample counts 2100 / 260 / 190; thin nodes back off to the parent); the leaf's latency samples are bimodal — about 20% cached installs finish in under 3 s, about 80% cold installs run over a minute. The GBM is the learned alternative producing a survival curve S(t|x); both feed the same functional. Step 3: firing at t=0 loses (the 20% shorts burn the 490 ms stake); conditional on surviving 300 ms the short mode is gone (~98% of survivors are cold), so the utility-optimal trigger is k* = 300 ms — versus the fixed deadline's 2000 ms wait. Code: trie tool_latency_profiled.py, utility functional _utility_matrix in tool_latency_utility_clock.py, recompute pricing tool_latency_recompute.py.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 Step 4 — the fitted trigger is only a candidate. The gate re-scores it cross-fitted on held-out profile tasks; if it certifiably beats the deadline the node deploys (PASS), otherwise k = infinity and the node silently behaves as the deadline (the bare cd node is the canonical FAIL: its distribution mixes ms-scale directory changes with minute-scale compound commands). The certified union ORs the gates that passed (trie and GBM) and acts on whichever certified clock rings first; if nothing certifies the whole system is the pure deadline. Step 5 — at runtime a 0.2 s call never reaches the 300 ms timer (zero cost); a cold install still running at 300 ms is swapped out with the transfer hidden, HBM is free for the remaining ~minute, and on return the cache is restored by the cheaper action priced in Step 1 (recompute, 490 ms). Code: gate select_probe_guard in tool_latency_offline_probe.py; bootstrap paired_task_cluster_bootstrap in tool_latency_confirmation.py; union driver run_certified_union_analysis.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tool-time-rho-measurement-20260715/findings.md (script scripts/measure_kv_swap_cost.py). Contention probe: rho 0.938 and 54.0 GB/s unchanged under gpu_load / host_load /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tool-time-prefill-cost-20260716/findings.md (script scripts/measure_prefill_cost.py; raw prefill_result.json). Model Qwen/Qwen3-Coder-30B-A3B-Instruct-FP8, vLLM 0.25.1, enforce_eager, prefix caching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tool-time-mechanism-analysis-20260715.md (absolute totals at rho=1.0: trie 118038 ms, GBM 23604 ms, union 135967 ms); tool-time-tool-name-baseline-swe-rebench-20260715/findings.md (tool-name vs deadline -40.7 s; full-trie vs tool-name +158.7 s, 1 certified); tool-time-certified-union-swe-rebench-20260715/findings.md (+136.0 s, 1 certified, equals naive union); tool-time-gate-union-20260715/findings.md.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tool-time-mechanism-analysis-20260715.md (fire counts 4852 / 44 / 26 overlap at rho=1.0; all divergence on exec; zero per-tool headroom); transfer results: tool-time-transfer-*-20260714 dirs; certified-union TB fallback: tool-time-certified-union-swe-rebench-20260715/findings.md.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Protocol: fresh-corpus-preregistration-20260716.md (locked; N=277, concurrency=2). Run state: HANDOFF-fresh-cert-20260717.md.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ROADMAP-mlsys2027-20260717.md.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Proactive KV-Cache Swap-Out During Agent Tool Calls</a:t>
            </a:r>
          </a:p>
          <a:p>
            <a:r>
              <a:rPr sz="2600" b="0">
                <a:solidFill>
                  <a:srgbClr val="52514E"/>
                </a:solidFill>
                <a:latin typeface="Calibri"/>
              </a:rPr>
              <a:t>Method Overview &amp; 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>
                <a:solidFill>
                  <a:srgbClr val="52514E"/>
                </a:solidFill>
                <a:latin typeface="Calibri"/>
              </a:rPr>
              <a:t>In one sentence: while an agent runs a tool call, its KV cache sits idle in GPU memory —</a:t>
            </a:r>
          </a:p>
          <a:p>
            <a:r>
              <a:rPr sz="1900" b="0">
                <a:solidFill>
                  <a:srgbClr val="52514E"/>
                </a:solidFill>
                <a:latin typeface="Calibri"/>
              </a:rPr>
              <a:t>when should we proactively swap it out, and how do we pay honestly for swapping it back 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98781"/>
                </a:solidFill>
                <a:latin typeface="Calibri"/>
              </a:rPr>
              <a:t>2026-07-17 · internal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When to swap out proactively: an optimal-stopping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During a tool call (shell command, file edit, build...), the request's KV cache does no compute but occupies GPU memory, crowding out other requests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Swap-out can hide the transfer inside the tool's runtime; but swap-in (restore) lands on the critical path and costs almost full price (ρ = 0.94)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Firing on a short call is a pure loss → per call, solve for a </a:t>
            </a:r>
            <a:r>
              <a:rPr sz="1700" b="1">
                <a:solidFill>
                  <a:srgbClr val="2A78D6"/>
                </a:solidFill>
                <a:latin typeface="Calibri"/>
              </a:rPr>
              <a:t>trigger time k</a:t>
            </a:r>
            <a:r>
              <a:rPr sz="1700" b="0">
                <a:solidFill>
                  <a:srgbClr val="52514E"/>
                </a:solidFill>
                <a:latin typeface="Calibri"/>
              </a:rPr>
              <a:t>: swap out only if the call is still running at 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Predict from causally available context only: tool name + command prefix + within-task history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Fixed-deadline baseline: </a:t>
            </a:r>
            <a:r>
              <a:rPr sz="1700" b="0">
                <a:solidFill>
                  <a:srgbClr val="52514E"/>
                </a:solidFill>
                <a:latin typeface="Calibri"/>
              </a:rPr>
              <a:t>the no-prediction default — wait a fixed grace period after each tool call starts; if the call is still running, swap out. All utilities are measured relative to this policy (it is also what our gate falls back 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3566160" cy="164592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</a:rPr>
              <a:t>ρ = 0.94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measured restore/swap-out cost ratio (H100, PCIe Gen5 x16)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480560"/>
            <a:ext cx="3566160" cy="164592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</a:rPr>
              <a:t>100 tasks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SWE-ReBench dev corpus, ~4640 real tool calls (sensitivity analysis)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480560"/>
            <a:ext cx="3566160" cy="164592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</a:rPr>
              <a:t>277 tasks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pre-registered confirmation on a fresh corpus, running now — results within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2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state of the art we start from — and where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• Continuum (published SOTA): </a:t>
            </a:r>
            <a:r>
              <a:rPr sz="1600" b="0">
                <a:solidFill>
                  <a:srgbClr val="52514E"/>
                </a:solidFill>
                <a:latin typeface="Calibri"/>
              </a:rPr>
              <a:t>predicts a call's duration from its TOOL NAME alone — a per-tool empirical duration CDF sets a KV time-to-live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881360" cy="1737360"/>
          </a:xfrm>
          <a:prstGeom prst="roundRect">
            <a:avLst/>
          </a:prstGeom>
          <a:solidFill>
            <a:srgbClr val="FDF3DC"/>
          </a:solidFill>
          <a:ln w="1905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</a:rPr>
              <a:t>Where it breaks — on Continuum's own data</a:t>
            </a:r>
          </a:p>
          <a:p>
            <a:pPr algn="l"/>
            <a:r>
              <a:rPr sz="1350" b="1">
                <a:solidFill>
                  <a:srgbClr val="0B0B0B"/>
                </a:solidFill>
                <a:latin typeface="Calibri"/>
              </a:rPr>
              <a:t>cd /repo</a:t>
            </a:r>
            <a:r>
              <a:rPr sz="1350" b="0">
                <a:solidFill>
                  <a:srgbClr val="52514E"/>
                </a:solidFill>
                <a:latin typeface="Calibri"/>
              </a:rPr>
              <a:t>  →  milliseconds        </a:t>
            </a:r>
            <a:r>
              <a:rPr sz="1350" b="1">
                <a:solidFill>
                  <a:srgbClr val="0B0B0B"/>
                </a:solidFill>
                <a:latin typeface="Calibri"/>
              </a:rPr>
              <a:t>cd /repo &amp;&amp; make build</a:t>
            </a:r>
            <a:r>
              <a:rPr sz="1350" b="0">
                <a:solidFill>
                  <a:srgbClr val="52514E"/>
                </a:solidFill>
                <a:latin typeface="Calibri"/>
              </a:rPr>
              <a:t>  →  minutes        </a:t>
            </a:r>
            <a:r>
              <a:rPr sz="1350" b="0">
                <a:solidFill>
                  <a:srgbClr val="52514E"/>
                </a:solidFill>
                <a:latin typeface="Calibri"/>
              </a:rPr>
              <a:t>— same tool name, filed under ONE mixed distribution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Their own Fig. 5: the slowest 10% of 'cd' calls carry 94.1% of all delay — one CDF mixing two entirely different populations, blind exactly where it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0B0B"/>
                </a:solidFill>
                <a:latin typeface="Calibri"/>
              </a:rPr>
              <a:t>The three gaps we fill: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3520440" cy="160020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450" b="1">
                <a:solidFill>
                  <a:srgbClr val="2A78D6"/>
                </a:solidFill>
                <a:latin typeface="Calibri"/>
              </a:rPr>
              <a:t>(a) Finer conditioning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Condition on the COMMAND PREFIX, not the tool name — 'cd' and 'cd &amp;&amp; make build' get separate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572000"/>
            <a:ext cx="3520440" cy="160020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450" b="1">
                <a:solidFill>
                  <a:srgbClr val="2A78D6"/>
                </a:solidFill>
                <a:latin typeface="Calibri"/>
              </a:rPr>
              <a:t>(b) Honest restore cost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Charge the measured restore cost in full — an objective that under-charges the action manufactures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572000"/>
            <a:ext cx="3520440" cy="160020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450" b="1">
                <a:solidFill>
                  <a:srgbClr val="2A78D6"/>
                </a:solidFill>
                <a:latin typeface="Calibri"/>
              </a:rPr>
              <a:t>(c) Statistical certification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Certify every fitted policy against the no-prediction default before trusting it — nothing deploys uncertified.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3 · METHOD: THE TRIGGER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Long calls win, short calls lose — the trigger is utility-driven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0B0B"/>
                </a:solidFill>
                <a:latin typeface="Calibri"/>
              </a:rPr>
              <a:t>Long call: the swap-out is hidden inside the tool's runtime → net gain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8412480" cy="411480"/>
          </a:xfrm>
          <a:prstGeom prst="roundRect">
            <a:avLst/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0">
                <a:solidFill>
                  <a:srgbClr val="0B0B0B"/>
                </a:solidFill>
                <a:latin typeface="Calibri"/>
              </a:rPr>
              <a:t>tool call (e.g. pip install / build) keeps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45920"/>
            <a:ext cx="18288" cy="12801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4813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trigger k: still running → swap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331720"/>
            <a:ext cx="265176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swap-out GPU→host (hidden)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331720"/>
            <a:ext cx="2103120" cy="365760"/>
          </a:xfrm>
          <a:prstGeom prst="roundRect">
            <a:avLst/>
          </a:prstGeom>
          <a:noFill/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D03B3B"/>
                </a:solidFill>
                <a:latin typeface="Calibri"/>
              </a:rPr>
              <a:t>restore ≈ ρ·c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7830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call ends → restore</a:t>
            </a:r>
          </a:p>
          <a:p>
            <a:r>
              <a:rPr sz="1100" b="0">
                <a:solidFill>
                  <a:srgbClr val="898781"/>
                </a:solidFill>
                <a:latin typeface="Calibri"/>
              </a:rPr>
              <a:t>on the critical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0B0B"/>
                </a:solidFill>
                <a:latin typeface="Calibri"/>
              </a:rPr>
              <a:t>Short call (misfire): little hidden, restore paid in full → pure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2926080" cy="411480"/>
          </a:xfrm>
          <a:prstGeom prst="roundRect">
            <a:avLst/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0">
                <a:solidFill>
                  <a:srgbClr val="0B0B0B"/>
                </a:solidFill>
                <a:latin typeface="Calibri"/>
              </a:rPr>
              <a:t>short tool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337560"/>
            <a:ext cx="18288" cy="114300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1729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D03B3B"/>
                </a:solidFill>
                <a:latin typeface="Calibri"/>
              </a:rPr>
              <a:t>k too early: misfire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977639"/>
            <a:ext cx="2377440" cy="36576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call ends as swap-out starts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977639"/>
            <a:ext cx="2377440" cy="365760"/>
          </a:xfrm>
          <a:prstGeom prst="roundRect">
            <a:avLst/>
          </a:prstGeom>
          <a:noFill/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1">
                <a:solidFill>
                  <a:srgbClr val="D03B3B"/>
                </a:solidFill>
                <a:latin typeface="Calibri"/>
              </a:rPr>
              <a:t>restore still paid (ρ = 0.94)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10881360" cy="146304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</a:rPr>
              <a:t>k is a WAITING time, not a transfer time</a:t>
            </a:r>
          </a:p>
          <a:p>
            <a:pPr algn="l"/>
            <a:r>
              <a:rPr sz="1350" b="0">
                <a:solidFill>
                  <a:srgbClr val="52514E"/>
                </a:solidFill>
                <a:latin typeface="Calibri"/>
              </a:rPr>
              <a:t>Fire only if the call is still running at k. The swap cost c (and restore ≈ ρ·c) is computed deterministically from the context length; it enters the utility as the stake, while k is solved per prefix-node from the latency distribution — certain-long nodes get small k, uncertain nodes get k→∞ (fall back to deadline).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3 · METHOD — RUNNING EXAMPLE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One call through the pipeline: price the actions, predict the duration, solve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Call arrives:  </a:t>
            </a:r>
            <a:r>
              <a:rPr sz="1400" b="1">
                <a:solidFill>
                  <a:srgbClr val="2A78D6"/>
                </a:solidFill>
                <a:latin typeface="Calibri"/>
              </a:rPr>
              <a:t>exec: pip install -r requirements.txt</a:t>
            </a:r>
            <a:r>
              <a:rPr sz="1400" b="0">
                <a:solidFill>
                  <a:srgbClr val="52514E"/>
                </a:solidFill>
                <a:latin typeface="Calibri"/>
              </a:rPr>
              <a:t>  ·  context = 12K tokens        </a:t>
            </a:r>
            <a:r>
              <a:rPr sz="1200" b="0">
                <a:solidFill>
                  <a:srgbClr val="898781"/>
                </a:solidFill>
                <a:latin typeface="Calibri"/>
              </a:rPr>
              <a:t>(numbers illustrative; ρ and the prefill curve are measured)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611880" cy="45262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</a:rPr>
              <a:t>STEP 1 — Price the actions</a:t>
            </a:r>
          </a:p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deterministic, no ML</a:t>
            </a:r>
          </a:p>
          <a:p>
            <a:pPr algn="l"/>
            <a:r>
              <a:rPr sz="500" b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swap-out  </a:t>
            </a:r>
            <a:r>
              <a:rPr sz="1250" b="0">
                <a:solidFill>
                  <a:srgbClr val="0B0B0B"/>
                </a:solidFill>
                <a:latin typeface="Calibri"/>
              </a:rPr>
              <a:t>c = KV bytes ÷ measured PCIe rate → 2000 ms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reload  </a:t>
            </a:r>
            <a:r>
              <a:rPr sz="1250" b="0">
                <a:solidFill>
                  <a:srgbClr val="0B0B0B"/>
                </a:solidFill>
                <a:latin typeface="Calibri"/>
              </a:rPr>
              <a:t>ρ·c = 1880 ms  (ρ = 0.94, measured)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recompute  </a:t>
            </a:r>
            <a:r>
              <a:rPr sz="1250" b="0">
                <a:solidFill>
                  <a:srgbClr val="0B0B0B"/>
                </a:solidFill>
                <a:latin typeface="Calibri"/>
              </a:rPr>
              <a:t>prefill(12K) ≈ 490 ms  (measured floor+slope curve)</a:t>
            </a:r>
          </a:p>
          <a:p>
            <a:pPr algn="l"/>
            <a:r>
              <a:rPr sz="500" b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restore stake = min(1880, 490) = </a:t>
            </a:r>
            <a:r>
              <a:rPr sz="1500" b="1">
                <a:solidFill>
                  <a:srgbClr val="006300"/>
                </a:solidFill>
                <a:latin typeface="Calibri"/>
              </a:rPr>
              <a:t>490 ms</a:t>
            </a:r>
          </a:p>
          <a:p>
            <a:pPr algn="l"/>
            <a:r>
              <a:rPr sz="1250" b="0">
                <a:solidFill>
                  <a:srgbClr val="006300"/>
                </a:solidFill>
                <a:latin typeface="Calibri"/>
              </a:rPr>
              <a:t>→ recompute wins for this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83080"/>
            <a:ext cx="3611880" cy="45262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</a:rPr>
              <a:t>STEP 2 — Look up the duration distribution</a:t>
            </a:r>
          </a:p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the prediction side: walk the trie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514600"/>
            <a:ext cx="228600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0B0B0B"/>
                </a:solidFill>
                <a:latin typeface="Calibri"/>
              </a:rPr>
              <a:t>exec</a:t>
            </a:r>
            <a:r>
              <a:rPr sz="1050" b="0">
                <a:solidFill>
                  <a:srgbClr val="898781"/>
                </a:solidFill>
                <a:latin typeface="Calibri"/>
              </a:rPr>
              <a:t>   2100 samples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029200" y="2916936"/>
            <a:ext cx="146304" cy="256032"/>
          </a:xfrm>
          <a:prstGeom prst="down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83480" y="3172968"/>
            <a:ext cx="228600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0B0B0B"/>
                </a:solidFill>
                <a:latin typeface="Calibri"/>
              </a:rPr>
              <a:t>pip</a:t>
            </a:r>
            <a:r>
              <a:rPr sz="1050" b="0">
                <a:solidFill>
                  <a:srgbClr val="898781"/>
                </a:solidFill>
                <a:latin typeface="Calibri"/>
              </a:rPr>
              <a:t>   260 samples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486400" y="3575304"/>
            <a:ext cx="146304" cy="256032"/>
          </a:xfrm>
          <a:prstGeom prst="down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0680" y="3831335"/>
            <a:ext cx="228600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0B0B0B"/>
                </a:solidFill>
                <a:latin typeface="Calibri"/>
              </a:rPr>
              <a:t>pip install</a:t>
            </a:r>
            <a:r>
              <a:rPr sz="1050" b="0">
                <a:solidFill>
                  <a:srgbClr val="898781"/>
                </a:solidFill>
                <a:latin typeface="Calibri"/>
              </a:rPr>
              <a:t>   190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52628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</a:rPr>
              <a:t>leaf is bimodal: </a:t>
            </a:r>
            <a:r>
              <a:rPr sz="1200" b="0">
                <a:solidFill>
                  <a:srgbClr val="52514E"/>
                </a:solidFill>
                <a:latin typeface="Calibri"/>
              </a:rPr>
              <a:t>~20% end &lt; 3 s (cached) · ~80% run &gt; 60 s (cold)</a:t>
            </a:r>
          </a:p>
          <a:p>
            <a:r>
              <a:rPr sz="1100" b="0">
                <a:solidFill>
                  <a:srgbClr val="898781"/>
                </a:solidFill>
                <a:latin typeface="Calibri"/>
              </a:rPr>
              <a:t>thin nodes back off to their parent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44068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</a:rPr>
              <a:t>GBM alternative: </a:t>
            </a:r>
            <a:r>
              <a:rPr sz="1200" b="0">
                <a:solidFill>
                  <a:srgbClr val="52514E"/>
                </a:solidFill>
                <a:latin typeface="Calibri"/>
              </a:rPr>
              <a:t>a learned survival curve S(t|x) from (tool, prefix, call index, history) — same downstream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611880" cy="45262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</a:rPr>
              <a:t>STEP 3 — Solve the trigger k</a:t>
            </a:r>
          </a:p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same utility functional for both predictors</a:t>
            </a:r>
          </a:p>
          <a:p>
            <a:pPr algn="l"/>
            <a:r>
              <a:rPr sz="500" b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Fire at t = 0?  The ~20% short calls each burn the 490 ms stake → expected utility &lt; 0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Conditional on surviving 300 ms, the short mode is gone: ~98% of survivors run &gt; 60 s</a:t>
            </a:r>
          </a:p>
          <a:p>
            <a:pPr algn="l"/>
            <a:r>
              <a:rPr sz="1700" b="1">
                <a:solidFill>
                  <a:srgbClr val="006300"/>
                </a:solidFill>
                <a:latin typeface="Calibri"/>
              </a:rPr>
              <a:t>→  k* = 300 ms</a:t>
            </a:r>
          </a:p>
          <a:p>
            <a:pPr algn="l"/>
            <a:r>
              <a:rPr sz="500" b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vs fixed deadline = c = 2000 ms </a:t>
            </a:r>
            <a:r>
              <a:rPr sz="1250" b="0">
                <a:solidFill>
                  <a:srgbClr val="52514E"/>
                </a:solidFill>
                <a:latin typeface="Calibri"/>
              </a:rPr>
              <a:t>(no-prediction rule: wait the swap cost, then fire) → k* hides/frees ~1700 ms more per long call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3944" y="3840480"/>
            <a:ext cx="182880" cy="365760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918704" y="3840480"/>
            <a:ext cx="182880" cy="365760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3 · METHOD — RUNNING EXAMPLE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gate decides whether k* may deploy — then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898781"/>
                </a:solidFill>
                <a:latin typeface="Calibri"/>
              </a:rPr>
              <a:t>(continued — numbers illustrative; ρ and the prefill curve are 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0B0B"/>
                </a:solidFill>
                <a:latin typeface="Calibri"/>
              </a:rPr>
              <a:t>STEP 4 — The certification gate (a checkpoint between fitting and deployment)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834640" cy="8686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0">
                <a:solidFill>
                  <a:srgbClr val="52514E"/>
                </a:solidFill>
                <a:latin typeface="Calibri"/>
              </a:rPr>
              <a:t>candidate trigger</a:t>
            </a:r>
          </a:p>
          <a:p>
            <a:pPr algn="ctr"/>
            <a:r>
              <a:rPr sz="1300" b="1">
                <a:solidFill>
                  <a:srgbClr val="0B0B0B"/>
                </a:solidFill>
                <a:latin typeface="Calibri"/>
              </a:rPr>
              <a:t>k* = 300 ms (pip-install node)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11880" y="2514600"/>
            <a:ext cx="320040" cy="411480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114800" y="1965960"/>
            <a:ext cx="2834640" cy="1508760"/>
          </a:xfrm>
          <a:prstGeom prst="diamond">
            <a:avLst/>
          </a:prstGeom>
          <a:solidFill>
            <a:srgbClr val="FDF3DC"/>
          </a:solidFill>
          <a:ln w="254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DA100"/>
                </a:solidFill>
                <a:latin typeface="Calibri"/>
              </a:rPr>
              <a:t>GATE</a:t>
            </a:r>
          </a:p>
          <a:p>
            <a:pPr algn="ctr"/>
            <a:r>
              <a:rPr sz="1100" b="0">
                <a:solidFill>
                  <a:srgbClr val="0B0B0B"/>
                </a:solidFill>
                <a:latin typeface="Calibri"/>
              </a:rPr>
              <a:t>cross-fitted test: beats the deadline?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5204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898781"/>
                </a:solidFill>
                <a:latin typeface="Calibri"/>
              </a:rPr>
              <a:t>on held-out profile tasks (leak-free)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148840"/>
            <a:ext cx="320040" cy="365760"/>
          </a:xfrm>
          <a:prstGeom prst="rightArrow">
            <a:avLst/>
          </a:prstGeom>
          <a:solidFill>
            <a:srgbClr val="00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1965960"/>
            <a:ext cx="4023360" cy="731520"/>
          </a:xfrm>
          <a:prstGeom prst="roundRect">
            <a:avLst/>
          </a:prstGeom>
          <a:solidFill>
            <a:srgbClr val="F4F4F1"/>
          </a:solidFill>
          <a:ln w="25400">
            <a:solidFill>
              <a:srgbClr val="00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006300"/>
                </a:solidFill>
                <a:latin typeface="Calibri"/>
              </a:rPr>
              <a:t>PASS → </a:t>
            </a:r>
            <a:r>
              <a:rPr sz="1300" b="1">
                <a:solidFill>
                  <a:srgbClr val="0B0B0B"/>
                </a:solidFill>
                <a:latin typeface="Calibri"/>
              </a:rPr>
              <a:t>k* = 300 ms goes live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3017520"/>
            <a:ext cx="320040" cy="365760"/>
          </a:xfrm>
          <a:prstGeom prst="rightArrow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2834640"/>
            <a:ext cx="4023360" cy="960120"/>
          </a:xfrm>
          <a:prstGeom prst="roundRect">
            <a:avLst/>
          </a:prstGeom>
          <a:solidFill>
            <a:srgbClr val="F4F4F1"/>
          </a:solidFill>
          <a:ln w="254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50" b="1">
                <a:solidFill>
                  <a:srgbClr val="D03B3B"/>
                </a:solidFill>
                <a:latin typeface="Calibri"/>
              </a:rPr>
              <a:t>FAIL → </a:t>
            </a:r>
            <a:r>
              <a:rPr sz="1250" b="0">
                <a:solidFill>
                  <a:srgbClr val="52514E"/>
                </a:solidFill>
                <a:latin typeface="Calibri"/>
              </a:rPr>
              <a:t>k = ∞ — node silently behaves as the deadline (e.g. the bare 'cd' node: hopelessly mixed)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>
                <a:solidFill>
                  <a:srgbClr val="0B0B0B"/>
                </a:solidFill>
                <a:latin typeface="Calibri"/>
              </a:rPr>
              <a:t>Certified union: </a:t>
            </a:r>
            <a:r>
              <a:rPr sz="1350" b="0">
                <a:solidFill>
                  <a:srgbClr val="52514E"/>
                </a:solidFill>
                <a:latin typeface="Calibri"/>
              </a:rPr>
              <a:t>OR over the gates that passed (trie, GBM) — arm both certified clocks, act on whichever rings first; nothing certified → pure deadline.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0B0B"/>
                </a:solidFill>
                <a:latin typeface="Calibri"/>
              </a:rPr>
              <a:t>STEP 5 — At runtime (this node deployed with k* = 300 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188720" cy="365760"/>
          </a:xfrm>
          <a:prstGeom prst="roundRect">
            <a:avLst/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0B0B0B"/>
                </a:solidFill>
                <a:latin typeface="Calibri"/>
              </a:rPr>
              <a:t>call, 0.2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029200"/>
            <a:ext cx="18288" cy="457200"/>
          </a:xfrm>
          <a:prstGeom prst="round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507492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52514E"/>
                </a:solidFill>
                <a:latin typeface="Calibri"/>
              </a:rPr>
              <a:t>k* = 300 ms never reached → timer never fired, zero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15000"/>
            <a:ext cx="7498079" cy="365760"/>
          </a:xfrm>
          <a:prstGeom prst="roundRect">
            <a:avLst/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0B0B0B"/>
                </a:solidFill>
                <a:latin typeface="Calibri"/>
              </a:rPr>
              <a:t>call still running … ~60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623560"/>
            <a:ext cx="18288" cy="548640"/>
          </a:xfrm>
          <a:prstGeom prst="roundRect">
            <a:avLst/>
          </a:prstGeom>
          <a:solidFill>
            <a:srgbClr val="00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6172200"/>
            <a:ext cx="2651760" cy="3657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300 ms: swap out (hidden)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61996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006300"/>
                </a:solidFill>
                <a:latin typeface="Calibri"/>
              </a:rPr>
              <a:t>HBM freed for the remaining ~60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5715000"/>
            <a:ext cx="3017520" cy="365760"/>
          </a:xfrm>
          <a:prstGeom prst="roundRect">
            <a:avLst/>
          </a:prstGeom>
          <a:noFill/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 b="0">
                <a:solidFill>
                  <a:srgbClr val="D03B3B"/>
                </a:solidFill>
                <a:latin typeface="Calibri"/>
              </a:rPr>
              <a:t>call ends: restore via recompute (490 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4 · KEY MEASUREMENT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Measured ρ = 0.94: restore costs almost full price, and it is a stable hardware property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201168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800" b="1">
                <a:solidFill>
                  <a:srgbClr val="0B0B0B"/>
                </a:solidFill>
                <a:latin typeface="Calibri"/>
              </a:rPr>
              <a:t>ρ = 0.94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measured restore/swap-out cost ratio, 0.935–0.944 (H100 80GB, PCIe Gen5 x16, CUDA-event timing)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94960" cy="201168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</a:rPr>
              <a:t>54 / 57.5 GB/s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swap-out / swap-in bandwidth — 86–91% of Gen5 x16 theoretical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5394960" cy="201168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3600" b="1">
                <a:solidFill>
                  <a:srgbClr val="0B0B0B"/>
                </a:solidFill>
                <a:latin typeface="Calibri"/>
              </a:rPr>
              <a:t>48 MB – 55 GB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ρ flat across this range (512 → 590k tokens); identical for bf16 and fp8 KV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4800" b="1">
                <a:solidFill>
                  <a:srgbClr val="0B0B0B"/>
                </a:solidFill>
                <a:latin typeface="Calibri"/>
              </a:rPr>
              <a:t>0.938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ρ unchanged under GPU-compute load, host-memory-bandwidth load, and both — the transfer is PCIe-bound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>
                <a:solidFill>
                  <a:srgbClr val="52514E"/>
                </a:solidFill>
                <a:latin typeface="Calibri"/>
              </a:rPr>
              <a:t>The real operating point is the pessimistic end: policies that only look good with free restore are net-negative on real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4 · KEY MEASUREMENT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Prefill (recompute) cost: a floor plus a super-linear regime — not a single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66160" cy="182880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3600" b="1">
                <a:solidFill>
                  <a:srgbClr val="0B0B0B"/>
                </a:solidFill>
                <a:latin typeface="Calibri"/>
              </a:rPr>
              <a:t>≈ 75 ms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fixed floor below ~2K tokens (74.80 ms): 8 / 512 / 1024 / 2048 tokens all land at 75–80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566160" cy="182880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0.049 ms/token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marginal rate at long context (linear-fit slope 0.04861, r² = 0.966)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566160" cy="1828800"/>
          </a:xfrm>
          <a:prstGeom prst="round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3600" b="1">
                <a:solidFill>
                  <a:srgbClr val="0B0B0B"/>
                </a:solidFill>
                <a:latin typeface="Calibri"/>
              </a:rPr>
              <a:t>1686 ms</a:t>
            </a:r>
          </a:p>
          <a:p>
            <a:pPr algn="l"/>
            <a:r>
              <a:rPr sz="1250" b="0">
                <a:solidFill>
                  <a:srgbClr val="52514E"/>
                </a:solidFill>
                <a:latin typeface="Calibri"/>
              </a:rPr>
              <a:t>prefill at 32K tokens; 4K → 118.6 ms, 8K → 254.8 ms, 16K → 611.5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Measured on Qwen3-Coder-30B FP8, same-class H100, vLLM; must be interpolated per context length — a single scalar rate badly under-predicts short contexts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At typical agent contexts (a few K to tens of K tokens) prefill is ~75 ms → ~600 ms: recomputing can undercut reloading when the swapped volume is large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The crossover is computed from this curve against the real context-length distribution — not asserted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5 · MAIN RESULTS (ABSOLUTE)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Absolute total utility: SWE-ReBench, 100 tasks / ~4640 tool calls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011680"/>
                <a:gridCol w="4663440"/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Calibri"/>
                        </a:rPr>
                        <a:t>Total utility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Calibri"/>
                        </a:rPr>
                        <a:t>Certification (as documented)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Fixed-deadline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reference zero point (by definition)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0B0B"/>
                          </a:solidFill>
                          <a:latin typeface="Calibri"/>
                        </a:rPr>
                        <a:t>Tool-name baseline (Continuum-class)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D03B3B"/>
                          </a:solidFill>
                          <a:latin typeface="Calibri"/>
                        </a:rPr>
                        <a:t>−40.7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net negative; a few individual cost cells certify (4)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Command-prefix trie (ours)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6300"/>
                          </a:solidFill>
                          <a:latin typeface="Calibri"/>
                        </a:rPr>
                        <a:t>+118.0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1 certified cost cell vs tool-name baseline (+158.7 s)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GBM hazard (ours)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6300"/>
                          </a:solidFill>
                          <a:latin typeface="Calibri"/>
                        </a:rPr>
                        <a:t>+23.6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no certification vs deadline documented at this ρ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Certified union (final method)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006300"/>
                          </a:solidFill>
                          <a:latin typeface="Calibri"/>
                        </a:rPr>
                        <a:t>+136.0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1 certified cost cell vs deadline; both gates certify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>
                <a:solidFill>
                  <a:srgbClr val="0B0B0B"/>
                </a:solidFill>
                <a:latin typeface="Calibri"/>
              </a:rPr>
              <a:t>Zero point = fixed deadline (the best deployable no-prediction policy; the paired null of the certification test).</a:t>
            </a:r>
          </a:p>
          <a:p>
            <a:r>
              <a:rPr sz="1250" b="0">
                <a:solidFill>
                  <a:srgbClr val="52514E"/>
                </a:solidFill>
                <a:latin typeface="Calibri"/>
              </a:rPr>
              <a:t>ρ = 1.0 column, proxy for the measured 0.94 (6% gap); utility = swap-out time hidden off the critical path − restore and misfire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898781"/>
                </a:solidFill>
                <a:latin typeface="Calibri"/>
              </a:rPr>
              <a:t>Dev-set sensitivity analysis (n=100); pre-registered certification on 277 fresh tasks in progress.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6 · KEY QUALITATIVE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No universal best policy — what generalizes is the certification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3258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</a:rPr>
              <a:t>No universal winner across workloads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The GBM wins in hypothetical cheap-restore regimes but loses to the trie at the real ρ = 0.94; priors fitted on SWE-ReBench go net-negative on Terminal-Bench. Which conditioning level to use is decided by the data, not by the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72968"/>
            <a:ext cx="10881360" cy="13258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</a:rPr>
              <a:t>The two gates fire on almost disjoint calls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At ρ = 1.0 the trie fires early 4852 times, the GBM 44 times, with only 26 overlapping; all policy divergence is on exec calls, and per-tool switching headroom is exactly zero. Complementary coverage → the OR union inherits both gains.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54296"/>
            <a:ext cx="10881360" cy="1325880"/>
          </a:xfrm>
          <a:prstGeom prst="roundRect">
            <a:avLst/>
          </a:prstGeom>
          <a:solidFill>
            <a:srgbClr val="F4F4F1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</a:rPr>
              <a:t>The certification gate is an automatic safety belt — never worse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On underpowered Terminal-Bench it reverts the whole system to the conservative deadline, avoiding the naive union's catastrophe; its only cost is conservatism on small corpora — a data problem, not a method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Thesis: </a:t>
            </a:r>
            <a:r>
              <a:rPr sz="1400" b="0">
                <a:solidFill>
                  <a:srgbClr val="52514E"/>
                </a:solidFill>
                <a:latin typeface="Calibri"/>
              </a:rPr>
              <a:t>fit per deployment, certify each component statistically, combine only certified components, otherwise fall back to the conservative deadline.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7 · CONFIRMATION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277-task fresh corpus · pre-registered · results within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965960"/>
          </a:xfrm>
          <a:prstGeom prst="roundRect">
            <a:avLst/>
          </a:prstGeom>
          <a:solidFill>
            <a:srgbClr val="FDF3DC"/>
          </a:solidFill>
          <a:ln w="31750">
            <a:solidFill>
              <a:srgbClr val="EDA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DA100"/>
                </a:solidFill>
                <a:latin typeface="Calibri"/>
              </a:rPr>
              <a:t>H1 (flagship) — RESULT PENDING</a:t>
            </a:r>
          </a:p>
          <a:p>
            <a:pPr algn="l"/>
            <a:r>
              <a:rPr sz="1450" b="0">
                <a:solidFill>
                  <a:srgbClr val="52514E"/>
                </a:solidFill>
                <a:latin typeface="Calibri"/>
              </a:rPr>
              <a:t>The certified-union trigger (loo_lcb inclusion) certifiably beats the fixed deadline at the operating point on ≥ 1 cost cell, randomization test p ≤ 0.0025. The naive union is pre-registered alongside as the negative control.</a:t>
            </a:r>
          </a:p>
          <a:p>
            <a:pPr algn="l"/>
            <a:r>
              <a:rPr sz="2200" b="1">
                <a:solidFill>
                  <a:srgbClr val="898781"/>
                </a:solidFill>
                <a:latin typeface="Calibri"/>
              </a:rPr>
              <a:t>[ TO FILL: certified / not + numbers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10881360" cy="1965960"/>
          </a:xfrm>
          <a:prstGeom prst="roundRect">
            <a:avLst/>
          </a:prstGeom>
          <a:solidFill>
            <a:srgbClr val="FDF3DC"/>
          </a:solidFill>
          <a:ln w="31750">
            <a:solidFill>
              <a:srgbClr val="EDA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800" b="1">
                <a:solidFill>
                  <a:srgbClr val="EDA100"/>
                </a:solidFill>
                <a:latin typeface="Calibri"/>
              </a:rPr>
              <a:t>H2 (vs published SOTA) — RESULT PENDING</a:t>
            </a:r>
          </a:p>
          <a:p>
            <a:pPr algn="l"/>
            <a:r>
              <a:rPr sz="1450" b="0">
                <a:solidFill>
                  <a:srgbClr val="52514E"/>
                </a:solidFill>
                <a:latin typeface="Calibri"/>
              </a:rPr>
              <a:t>The command-prefix trie certifiably beats the tool-name (Continuum-class) estimator (randomization certificate).</a:t>
            </a:r>
          </a:p>
          <a:p>
            <a:pPr algn="l"/>
            <a:r>
              <a:rPr sz="2200" b="1">
                <a:solidFill>
                  <a:srgbClr val="898781"/>
                </a:solidFill>
                <a:latin typeface="Calibri"/>
              </a:rPr>
              <a:t>[ TO FILL: certified / not + numbers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>
                <a:solidFill>
                  <a:srgbClr val="52514E"/>
                </a:solidFill>
                <a:latin typeface="Calibri"/>
              </a:rPr>
              <a:t>ρ = 0.94 by construction; paired sign-flip randomization test, Bonferroni-corrected. If H1 fails to certify, it is reported as an honest negative — no post-hoc re-analysis.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78D6"/>
                </a:solidFill>
                <a:latin typeface="Calibri"/>
              </a:rPr>
              <a:t>STATUS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One step from sensitivity to 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• Done: </a:t>
            </a:r>
            <a:r>
              <a:rPr sz="1900" b="0">
                <a:solidFill>
                  <a:srgbClr val="52514E"/>
                </a:solidFill>
                <a:latin typeface="Calibri"/>
              </a:rPr>
              <a:t>the full method loop (profile → utility trigger → certification gate → certified union) + two hardware measurements (ρ, prefill)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• Running: </a:t>
            </a:r>
            <a:r>
              <a:rPr sz="1900" b="0">
                <a:solidFill>
                  <a:srgbClr val="52514E"/>
                </a:solidFill>
                <a:latin typeface="Calibri"/>
              </a:rPr>
              <a:t>pre-registered confirmation (H1/H2) on a fresh 277-task corpus — results within hours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• Roadmap in one sentence: </a:t>
            </a:r>
            <a:r>
              <a:rPr sz="1900" b="0">
                <a:solidFill>
                  <a:srgbClr val="52514E"/>
                </a:solidFill>
                <a:latin typeface="Calibri"/>
              </a:rPr>
              <a:t>with the confirmation as the foundation, generalize to multiple resource signals × multiple actions, all arbitrated by the per-deployment certification gate — target MLSys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